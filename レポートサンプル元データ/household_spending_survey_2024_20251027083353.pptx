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Shape 1"/>
          <p:cNvSpPr/>
          <p:nvPr/>
        </p:nvSpPr>
        <p:spPr>
          <a:xfrm>
            <a:off x="0" y="0"/>
            <a:ext cx="12191695" cy="6858000"/>
          </a:xfrm>
          <a:prstGeom prst="rect">
            <a:avLst/>
          </a:prstGeom>
          <a:solidFill>
            <a:srgbClr val="F0F4F8"/>
          </a:solidFill>
          <a:ln/>
        </p:spPr>
      </p:sp>
      <p:sp>
        <p:nvSpPr>
          <p:cNvPr id="4" name="Text 2"/>
          <p:cNvSpPr txBox="1"/>
          <p:nvPr/>
        </p:nvSpPr>
        <p:spPr>
          <a:xfrm>
            <a:off x="1067105" y="2426818"/>
            <a:ext cx="10411358" cy="667512"/>
          </a:xfrm>
          <a:prstGeom prst="rect">
            <a:avLst/>
          </a:prstGeom>
          <a:noFill/>
          <a:ln/>
        </p:spPr>
        <p:txBody>
          <a:bodyPr wrap="square" lIns="0" tIns="0" rIns="0" bIns="0" rtlCol="0" anchor="ctr"/>
          <a:lstStyle/>
          <a:p>
            <a:pPr algn="ctr" indent="0" marL="0">
              <a:buNone/>
            </a:pPr>
            <a:r>
              <a:rPr lang="en-US" sz="3600" b="1" dirty="0">
                <a:solidFill>
                  <a:srgbClr val="1A365D"/>
                </a:solidFill>
                <a:latin typeface="Noto Sans JP" pitchFamily="34" charset="0"/>
                <a:ea typeface="Noto Sans JP" pitchFamily="34" charset="-122"/>
                <a:cs typeface="Noto Sans JP" pitchFamily="34" charset="-120"/>
              </a:rPr>
              <a:t>物価高と円安下の家計支出態度に関する実態調査</a:t>
            </a:r>
            <a:endParaRPr lang="en-US" sz="3600" dirty="0"/>
          </a:p>
        </p:txBody>
      </p:sp>
      <p:sp>
        <p:nvSpPr>
          <p:cNvPr id="5" name="Shape 3"/>
          <p:cNvSpPr/>
          <p:nvPr/>
        </p:nvSpPr>
        <p:spPr>
          <a:xfrm>
            <a:off x="5619902" y="3288182"/>
            <a:ext cx="952805" cy="38405"/>
          </a:xfrm>
          <a:prstGeom prst="rect">
            <a:avLst/>
          </a:prstGeom>
          <a:solidFill>
            <a:srgbClr val="3182CE"/>
          </a:solidFill>
          <a:ln/>
        </p:spPr>
      </p:sp>
      <p:sp>
        <p:nvSpPr>
          <p:cNvPr id="6" name="Text 4"/>
          <p:cNvSpPr txBox="1"/>
          <p:nvPr/>
        </p:nvSpPr>
        <p:spPr>
          <a:xfrm>
            <a:off x="5356555" y="5505602"/>
            <a:ext cx="1657807" cy="333756"/>
          </a:xfrm>
          <a:prstGeom prst="rect">
            <a:avLst/>
          </a:prstGeom>
          <a:noFill/>
          <a:ln/>
        </p:spPr>
        <p:txBody>
          <a:bodyPr wrap="square" lIns="0" tIns="0" rIns="0" bIns="0" rtlCol="0" anchor="ctr"/>
          <a:lstStyle/>
          <a:p>
            <a:pPr algn="ctr" indent="0" marL="0">
              <a:buNone/>
            </a:pPr>
            <a:r>
              <a:rPr lang="en-US" sz="1800" dirty="0">
                <a:solidFill>
                  <a:srgbClr val="2D3748"/>
                </a:solidFill>
                <a:latin typeface="Noto Sans JP" pitchFamily="34" charset="0"/>
                <a:ea typeface="Noto Sans JP" pitchFamily="34" charset="-122"/>
                <a:cs typeface="Noto Sans JP" pitchFamily="34" charset="-120"/>
              </a:rPr>
              <a:t>KITAI株式会社</a:t>
            </a:r>
            <a:endParaRPr lang="en-US" sz="1800" dirty="0"/>
          </a:p>
        </p:txBody>
      </p:sp>
      <p:sp>
        <p:nvSpPr>
          <p:cNvPr id="7" name="Text 5"/>
          <p:cNvSpPr txBox="1"/>
          <p:nvPr/>
        </p:nvSpPr>
        <p:spPr>
          <a:xfrm>
            <a:off x="5387645" y="6001207"/>
            <a:ext cx="1562710" cy="277063"/>
          </a:xfrm>
          <a:prstGeom prst="rect">
            <a:avLst/>
          </a:prstGeom>
          <a:noFill/>
          <a:ln/>
        </p:spPr>
        <p:txBody>
          <a:bodyPr wrap="square" lIns="0" tIns="0" rIns="0" bIns="0" rtlCol="0" anchor="ctr"/>
          <a:lstStyle/>
          <a:p>
            <a:pPr algn="ctr" indent="0" marL="0">
              <a:buNone/>
            </a:pPr>
            <a:r>
              <a:rPr lang="en-US" sz="1500" dirty="0">
                <a:solidFill>
                  <a:srgbClr val="4A5568"/>
                </a:solidFill>
                <a:latin typeface="Noto Sans JP" pitchFamily="34" charset="0"/>
                <a:ea typeface="Noto Sans JP" pitchFamily="34" charset="-122"/>
                <a:cs typeface="Noto Sans JP" pitchFamily="34" charset="-120"/>
              </a:rPr>
              <a:t>2025年10月27日</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1457554" cy="438912"/>
          </a:xfrm>
          <a:prstGeom prst="rect">
            <a:avLst/>
          </a:prstGeom>
          <a:noFill/>
          <a:ln/>
        </p:spPr>
        <p:txBody>
          <a:bodyPr wrap="square" lIns="0" tIns="0" rIns="0" bIns="0" rtlCol="0" anchor="ctr"/>
          <a:lstStyle/>
          <a:p>
            <a:pPr algn="l" indent="0" marL="0">
              <a:buNone/>
            </a:pPr>
            <a:r>
              <a:rPr lang="en-US" sz="2400" b="1" dirty="0">
                <a:solidFill>
                  <a:srgbClr val="1A365D"/>
                </a:solidFill>
                <a:latin typeface="Noto Sans JP" pitchFamily="34" charset="0"/>
                <a:ea typeface="Noto Sans JP" pitchFamily="34" charset="-122"/>
                <a:cs typeface="Noto Sans JP" pitchFamily="34" charset="-120"/>
              </a:rPr>
              <a:t>調査概要</a:t>
            </a:r>
            <a:endParaRPr lang="en-US" sz="2400" dirty="0"/>
          </a:p>
        </p:txBody>
      </p:sp>
      <p:sp>
        <p:nvSpPr>
          <p:cNvPr id="4" name="Shape 2"/>
          <p:cNvSpPr/>
          <p:nvPr/>
        </p:nvSpPr>
        <p:spPr>
          <a:xfrm>
            <a:off x="571500" y="761695"/>
            <a:ext cx="761695" cy="28346"/>
          </a:xfrm>
          <a:prstGeom prst="rect">
            <a:avLst/>
          </a:prstGeom>
          <a:solidFill>
            <a:srgbClr val="3182CE"/>
          </a:solidFill>
          <a:ln/>
        </p:spPr>
      </p:sp>
      <p:sp>
        <p:nvSpPr>
          <p:cNvPr id="5" name="Text 3"/>
          <p:cNvSpPr txBox="1"/>
          <p:nvPr/>
        </p:nvSpPr>
        <p:spPr>
          <a:xfrm>
            <a:off x="571500" y="942746"/>
            <a:ext cx="1329538"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調査背景・目的</a:t>
            </a:r>
            <a:endParaRPr lang="en-US" sz="1300" dirty="0"/>
          </a:p>
        </p:txBody>
      </p:sp>
      <p:sp>
        <p:nvSpPr>
          <p:cNvPr id="6" name="Text 4"/>
          <p:cNvSpPr txBox="1"/>
          <p:nvPr/>
        </p:nvSpPr>
        <p:spPr>
          <a:xfrm>
            <a:off x="571500" y="1763878"/>
            <a:ext cx="814730"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調査目的</a:t>
            </a:r>
            <a:endParaRPr lang="en-US" sz="1300" dirty="0"/>
          </a:p>
        </p:txBody>
      </p:sp>
      <p:sp>
        <p:nvSpPr>
          <p:cNvPr id="7" name="Text 5"/>
          <p:cNvSpPr txBox="1"/>
          <p:nvPr/>
        </p:nvSpPr>
        <p:spPr>
          <a:xfrm>
            <a:off x="571500" y="3501238"/>
            <a:ext cx="986638"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分析テーマ</a:t>
            </a:r>
            <a:endParaRPr lang="en-US" sz="1300" dirty="0"/>
          </a:p>
        </p:txBody>
      </p:sp>
      <p:sp>
        <p:nvSpPr>
          <p:cNvPr id="8" name="Text 6"/>
          <p:cNvSpPr txBox="1"/>
          <p:nvPr/>
        </p:nvSpPr>
        <p:spPr>
          <a:xfrm>
            <a:off x="571500" y="1266444"/>
            <a:ext cx="5300777" cy="381305"/>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物価高や円安の影響を受けた家計の支出態度の変化を把握し、節約行動や潜在需要、価値観変化を明らかにすることで、消費者理解と戦略立案に活用します。</a:t>
            </a:r>
            <a:endParaRPr lang="en-US" sz="1000" dirty="0"/>
          </a:p>
        </p:txBody>
      </p:sp>
      <p:sp>
        <p:nvSpPr>
          <p:cNvPr id="9" name="Text 7"/>
          <p:cNvSpPr txBox="1"/>
          <p:nvPr/>
        </p:nvSpPr>
        <p:spPr>
          <a:xfrm>
            <a:off x="571500" y="2097634"/>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0" name="Text 8"/>
          <p:cNvSpPr txBox="1"/>
          <p:nvPr/>
        </p:nvSpPr>
        <p:spPr>
          <a:xfrm>
            <a:off x="571500" y="2426818"/>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9"/>
          <p:cNvSpPr txBox="1"/>
          <p:nvPr/>
        </p:nvSpPr>
        <p:spPr>
          <a:xfrm>
            <a:off x="571500" y="2756002"/>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10"/>
          <p:cNvSpPr txBox="1"/>
          <p:nvPr/>
        </p:nvSpPr>
        <p:spPr>
          <a:xfrm>
            <a:off x="571500" y="3086100"/>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3" name="Text 11"/>
          <p:cNvSpPr txBox="1"/>
          <p:nvPr/>
        </p:nvSpPr>
        <p:spPr>
          <a:xfrm>
            <a:off x="686714" y="2087575"/>
            <a:ext cx="2767889"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物価高や円安による家計支出態度の変化把握</a:t>
            </a:r>
            <a:endParaRPr lang="en-US" sz="1000" dirty="0"/>
          </a:p>
        </p:txBody>
      </p:sp>
      <p:sp>
        <p:nvSpPr>
          <p:cNvPr id="14" name="Text 12"/>
          <p:cNvSpPr txBox="1"/>
          <p:nvPr/>
        </p:nvSpPr>
        <p:spPr>
          <a:xfrm>
            <a:off x="686714" y="2417674"/>
            <a:ext cx="2634386"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節約強化分野と具体的工夫の消費行動分析</a:t>
            </a:r>
            <a:endParaRPr lang="en-US" sz="1000" dirty="0"/>
          </a:p>
        </p:txBody>
      </p:sp>
      <p:sp>
        <p:nvSpPr>
          <p:cNvPr id="15" name="Text 13"/>
          <p:cNvSpPr txBox="1"/>
          <p:nvPr/>
        </p:nvSpPr>
        <p:spPr>
          <a:xfrm>
            <a:off x="686714" y="2746858"/>
            <a:ext cx="2634386"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景気回復時の支出意向分野と潜在需要測定</a:t>
            </a:r>
            <a:endParaRPr lang="en-US" sz="1000" dirty="0"/>
          </a:p>
        </p:txBody>
      </p:sp>
      <p:sp>
        <p:nvSpPr>
          <p:cNvPr id="16" name="Text 14"/>
          <p:cNvSpPr txBox="1"/>
          <p:nvPr/>
        </p:nvSpPr>
        <p:spPr>
          <a:xfrm>
            <a:off x="686714" y="3076042"/>
            <a:ext cx="2233879"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価値観変化と節約行動の関連性分析</a:t>
            </a:r>
            <a:endParaRPr lang="en-US" sz="1000" dirty="0"/>
          </a:p>
        </p:txBody>
      </p:sp>
      <p:sp>
        <p:nvSpPr>
          <p:cNvPr id="17" name="Text 15"/>
          <p:cNvSpPr txBox="1"/>
          <p:nvPr/>
        </p:nvSpPr>
        <p:spPr>
          <a:xfrm>
            <a:off x="571500" y="3834079"/>
            <a:ext cx="1362456"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1. 家計の支出変化</a:t>
            </a:r>
            <a:endParaRPr lang="en-US" sz="1200" dirty="0"/>
          </a:p>
        </p:txBody>
      </p:sp>
      <p:sp>
        <p:nvSpPr>
          <p:cNvPr id="18" name="Text 16"/>
          <p:cNvSpPr txBox="1"/>
          <p:nvPr/>
        </p:nvSpPr>
        <p:spPr>
          <a:xfrm>
            <a:off x="571500" y="4600346"/>
            <a:ext cx="1362456"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2. 将来の支出意向</a:t>
            </a:r>
            <a:endParaRPr lang="en-US" sz="1200" dirty="0"/>
          </a:p>
        </p:txBody>
      </p:sp>
      <p:sp>
        <p:nvSpPr>
          <p:cNvPr id="19" name="Text 17"/>
          <p:cNvSpPr txBox="1"/>
          <p:nvPr/>
        </p:nvSpPr>
        <p:spPr>
          <a:xfrm>
            <a:off x="571500" y="5192878"/>
            <a:ext cx="1962302"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3. 価値観の変化とその影響</a:t>
            </a:r>
            <a:endParaRPr lang="en-US" sz="1200" dirty="0"/>
          </a:p>
        </p:txBody>
      </p:sp>
      <p:sp>
        <p:nvSpPr>
          <p:cNvPr id="20" name="Text 18"/>
          <p:cNvSpPr txBox="1"/>
          <p:nvPr/>
        </p:nvSpPr>
        <p:spPr>
          <a:xfrm>
            <a:off x="571500" y="5785409"/>
            <a:ext cx="1362456"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4. 国際情勢の影響</a:t>
            </a:r>
            <a:endParaRPr lang="en-US" sz="1200" dirty="0"/>
          </a:p>
        </p:txBody>
      </p:sp>
      <p:sp>
        <p:nvSpPr>
          <p:cNvPr id="21" name="Text 19"/>
          <p:cNvSpPr txBox="1"/>
          <p:nvPr/>
        </p:nvSpPr>
        <p:spPr>
          <a:xfrm>
            <a:off x="761695" y="4091940"/>
            <a:ext cx="5046574" cy="362102"/>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物価高や円安の影響を受けた家計の支出態度の変化とその具体的な節約行動を明らかにする。</a:t>
            </a:r>
            <a:endParaRPr lang="en-US" sz="900" dirty="0"/>
          </a:p>
        </p:txBody>
      </p:sp>
      <p:sp>
        <p:nvSpPr>
          <p:cNvPr id="22" name="Text 20"/>
          <p:cNvSpPr txBox="1"/>
          <p:nvPr/>
        </p:nvSpPr>
        <p:spPr>
          <a:xfrm>
            <a:off x="761695" y="4857293"/>
            <a:ext cx="4188866" cy="181051"/>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景気や物価回復時にお金をかけたい分野を把握し、潜在需要を測定する。</a:t>
            </a:r>
            <a:endParaRPr lang="en-US" sz="900" dirty="0"/>
          </a:p>
        </p:txBody>
      </p:sp>
      <p:sp>
        <p:nvSpPr>
          <p:cNvPr id="23" name="Text 21"/>
          <p:cNvSpPr txBox="1"/>
          <p:nvPr/>
        </p:nvSpPr>
        <p:spPr>
          <a:xfrm>
            <a:off x="761695" y="5449824"/>
            <a:ext cx="4179722" cy="181051"/>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家計の節約行動に影響を与える価値観の変化を捉え、関連性を確認する。</a:t>
            </a:r>
            <a:endParaRPr lang="en-US" sz="900" dirty="0"/>
          </a:p>
        </p:txBody>
      </p:sp>
      <p:sp>
        <p:nvSpPr>
          <p:cNvPr id="24" name="Text 22"/>
          <p:cNvSpPr txBox="1"/>
          <p:nvPr/>
        </p:nvSpPr>
        <p:spPr>
          <a:xfrm>
            <a:off x="761695" y="6042355"/>
            <a:ext cx="3941064" cy="181051"/>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米大統領選に対する所感を収集し、生活者の期待や不安を把握する。</a:t>
            </a:r>
            <a:endParaRPr lang="en-US" sz="900" dirty="0"/>
          </a:p>
        </p:txBody>
      </p:sp>
      <p:sp>
        <p:nvSpPr>
          <p:cNvPr id="25" name="Text 23"/>
          <p:cNvSpPr txBox="1"/>
          <p:nvPr/>
        </p:nvSpPr>
        <p:spPr>
          <a:xfrm>
            <a:off x="6324905" y="942746"/>
            <a:ext cx="814730"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調査方法</a:t>
            </a:r>
            <a:endParaRPr lang="en-US" sz="1300" dirty="0"/>
          </a:p>
        </p:txBody>
      </p:sp>
      <p:sp>
        <p:nvSpPr>
          <p:cNvPr id="26" name="Text 24"/>
          <p:cNvSpPr txBox="1"/>
          <p:nvPr/>
        </p:nvSpPr>
        <p:spPr>
          <a:xfrm>
            <a:off x="6324905" y="2104949"/>
            <a:ext cx="1672438"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回答者構成（割付）</a:t>
            </a:r>
            <a:endParaRPr lang="en-US" sz="1300" dirty="0"/>
          </a:p>
        </p:txBody>
      </p:sp>
      <p:sp>
        <p:nvSpPr>
          <p:cNvPr id="27" name="Text 25"/>
          <p:cNvSpPr txBox="1"/>
          <p:nvPr/>
        </p:nvSpPr>
        <p:spPr>
          <a:xfrm>
            <a:off x="6324905" y="1276502"/>
            <a:ext cx="681228" cy="191110"/>
          </a:xfrm>
          <a:prstGeom prst="rect">
            <a:avLst/>
          </a:prstGeom>
          <a:noFill/>
          <a:ln/>
        </p:spPr>
        <p:txBody>
          <a:bodyPr wrap="square" lIns="0" tIns="0" rIns="0" bIns="0" rtlCol="0" anchor="ctr"/>
          <a:lstStyle/>
          <a:p>
            <a:pPr algn="l" indent="0" marL="0">
              <a:buNone/>
            </a:pPr>
            <a:r>
              <a:rPr lang="en-US" sz="1000" b="1" dirty="0">
                <a:solidFill>
                  <a:srgbClr val="2D3748"/>
                </a:solidFill>
                <a:latin typeface="Noto Sans JP" pitchFamily="34" charset="0"/>
                <a:ea typeface="Noto Sans JP" pitchFamily="34" charset="-122"/>
                <a:cs typeface="Noto Sans JP" pitchFamily="34" charset="-120"/>
              </a:rPr>
              <a:t>調査手法:</a:t>
            </a:r>
            <a:endParaRPr lang="en-US" sz="1000" dirty="0"/>
          </a:p>
        </p:txBody>
      </p:sp>
      <p:sp>
        <p:nvSpPr>
          <p:cNvPr id="28" name="Text 26"/>
          <p:cNvSpPr txBox="1"/>
          <p:nvPr/>
        </p:nvSpPr>
        <p:spPr>
          <a:xfrm>
            <a:off x="6324905" y="1533449"/>
            <a:ext cx="681228" cy="191110"/>
          </a:xfrm>
          <a:prstGeom prst="rect">
            <a:avLst/>
          </a:prstGeom>
          <a:noFill/>
          <a:ln/>
        </p:spPr>
        <p:txBody>
          <a:bodyPr wrap="square" lIns="0" tIns="0" rIns="0" bIns="0" rtlCol="0" anchor="ctr"/>
          <a:lstStyle/>
          <a:p>
            <a:pPr algn="l" indent="0" marL="0">
              <a:buNone/>
            </a:pPr>
            <a:r>
              <a:rPr lang="en-US" sz="1000" b="1" dirty="0">
                <a:solidFill>
                  <a:srgbClr val="2D3748"/>
                </a:solidFill>
                <a:latin typeface="Noto Sans JP" pitchFamily="34" charset="0"/>
                <a:ea typeface="Noto Sans JP" pitchFamily="34" charset="-122"/>
                <a:cs typeface="Noto Sans JP" pitchFamily="34" charset="-120"/>
              </a:rPr>
              <a:t>調査期間:</a:t>
            </a:r>
            <a:endParaRPr lang="en-US" sz="1000" dirty="0"/>
          </a:p>
        </p:txBody>
      </p:sp>
      <p:sp>
        <p:nvSpPr>
          <p:cNvPr id="29" name="Text 27"/>
          <p:cNvSpPr txBox="1"/>
          <p:nvPr/>
        </p:nvSpPr>
        <p:spPr>
          <a:xfrm>
            <a:off x="6324905" y="1790395"/>
            <a:ext cx="814730" cy="191110"/>
          </a:xfrm>
          <a:prstGeom prst="rect">
            <a:avLst/>
          </a:prstGeom>
          <a:noFill/>
          <a:ln/>
        </p:spPr>
        <p:txBody>
          <a:bodyPr wrap="square" lIns="0" tIns="0" rIns="0" bIns="0" rtlCol="0" anchor="ctr"/>
          <a:lstStyle/>
          <a:p>
            <a:pPr algn="l" indent="0" marL="0">
              <a:buNone/>
            </a:pPr>
            <a:r>
              <a:rPr lang="en-US" sz="1000" b="1" dirty="0">
                <a:solidFill>
                  <a:srgbClr val="2D3748"/>
                </a:solidFill>
                <a:latin typeface="Noto Sans JP" pitchFamily="34" charset="0"/>
                <a:ea typeface="Noto Sans JP" pitchFamily="34" charset="-122"/>
                <a:cs typeface="Noto Sans JP" pitchFamily="34" charset="-120"/>
              </a:rPr>
              <a:t>有効回答数:</a:t>
            </a:r>
            <a:endParaRPr lang="en-US" sz="1000" dirty="0"/>
          </a:p>
        </p:txBody>
      </p:sp>
      <p:sp>
        <p:nvSpPr>
          <p:cNvPr id="30" name="Text 28"/>
          <p:cNvSpPr txBox="1"/>
          <p:nvPr/>
        </p:nvSpPr>
        <p:spPr>
          <a:xfrm>
            <a:off x="7181698" y="1276502"/>
            <a:ext cx="1310335"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Webアンケート調査</a:t>
            </a:r>
            <a:endParaRPr lang="en-US" sz="1000" dirty="0"/>
          </a:p>
        </p:txBody>
      </p:sp>
      <p:sp>
        <p:nvSpPr>
          <p:cNvPr id="31" name="Text 29"/>
          <p:cNvSpPr txBox="1"/>
          <p:nvPr/>
        </p:nvSpPr>
        <p:spPr>
          <a:xfrm>
            <a:off x="7181698" y="1533449"/>
            <a:ext cx="1510589"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2024年11月13日〜14日</a:t>
            </a:r>
            <a:endParaRPr lang="en-US" sz="1000" dirty="0"/>
          </a:p>
        </p:txBody>
      </p:sp>
      <p:sp>
        <p:nvSpPr>
          <p:cNvPr id="32" name="Text 30"/>
          <p:cNvSpPr txBox="1"/>
          <p:nvPr/>
        </p:nvSpPr>
        <p:spPr>
          <a:xfrm>
            <a:off x="7181698" y="1790395"/>
            <a:ext cx="566928"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5,000名</a:t>
            </a:r>
            <a:endParaRPr lang="en-US" sz="1000" dirty="0"/>
          </a:p>
        </p:txBody>
      </p:sp>
      <p:sp>
        <p:nvSpPr>
          <p:cNvPr id="33" name="Shape 31"/>
          <p:cNvSpPr/>
          <p:nvPr/>
        </p:nvSpPr>
        <p:spPr>
          <a:xfrm>
            <a:off x="6329477" y="2443277"/>
            <a:ext cx="1886407" cy="314554"/>
          </a:xfrm>
          <a:prstGeom prst="rect">
            <a:avLst/>
          </a:prstGeom>
          <a:solidFill>
            <a:srgbClr val="E2E8F0"/>
          </a:solidFill>
          <a:ln w="12700">
            <a:solidFill>
              <a:srgbClr val="CBD5E0"/>
            </a:solidFill>
            <a:prstDash val="solid"/>
          </a:ln>
        </p:spPr>
      </p:sp>
      <p:sp>
        <p:nvSpPr>
          <p:cNvPr id="34" name="Shape 32"/>
          <p:cNvSpPr/>
          <p:nvPr/>
        </p:nvSpPr>
        <p:spPr>
          <a:xfrm>
            <a:off x="8206740" y="2443277"/>
            <a:ext cx="1143000" cy="314554"/>
          </a:xfrm>
          <a:prstGeom prst="rect">
            <a:avLst/>
          </a:prstGeom>
          <a:solidFill>
            <a:srgbClr val="E2E8F0"/>
          </a:solidFill>
          <a:ln w="12700">
            <a:solidFill>
              <a:srgbClr val="CBD5E0"/>
            </a:solidFill>
            <a:prstDash val="solid"/>
          </a:ln>
        </p:spPr>
      </p:sp>
      <p:sp>
        <p:nvSpPr>
          <p:cNvPr id="35" name="Shape 33"/>
          <p:cNvSpPr/>
          <p:nvPr/>
        </p:nvSpPr>
        <p:spPr>
          <a:xfrm>
            <a:off x="9343339" y="2443277"/>
            <a:ext cx="1143000" cy="314554"/>
          </a:xfrm>
          <a:prstGeom prst="rect">
            <a:avLst/>
          </a:prstGeom>
          <a:solidFill>
            <a:srgbClr val="E2E8F0"/>
          </a:solidFill>
          <a:ln w="12700">
            <a:solidFill>
              <a:srgbClr val="CBD5E0"/>
            </a:solidFill>
            <a:prstDash val="solid"/>
          </a:ln>
        </p:spPr>
      </p:sp>
      <p:sp>
        <p:nvSpPr>
          <p:cNvPr id="36" name="Shape 34"/>
          <p:cNvSpPr/>
          <p:nvPr/>
        </p:nvSpPr>
        <p:spPr>
          <a:xfrm>
            <a:off x="10479024" y="2443277"/>
            <a:ext cx="1143000" cy="314554"/>
          </a:xfrm>
          <a:prstGeom prst="rect">
            <a:avLst/>
          </a:prstGeom>
          <a:solidFill>
            <a:srgbClr val="E2E8F0"/>
          </a:solidFill>
          <a:ln w="12700">
            <a:solidFill>
              <a:srgbClr val="CBD5E0"/>
            </a:solidFill>
            <a:prstDash val="solid"/>
          </a:ln>
        </p:spPr>
      </p:sp>
      <p:sp>
        <p:nvSpPr>
          <p:cNvPr id="37" name="Text 35"/>
          <p:cNvSpPr txBox="1"/>
          <p:nvPr/>
        </p:nvSpPr>
        <p:spPr>
          <a:xfrm>
            <a:off x="6958584" y="2505456"/>
            <a:ext cx="722376" cy="181051"/>
          </a:xfrm>
          <a:prstGeom prst="rect">
            <a:avLst/>
          </a:prstGeom>
          <a:noFill/>
          <a:ln/>
        </p:spPr>
        <p:txBody>
          <a:bodyPr wrap="square" lIns="0" tIns="0" rIns="0" bIns="0" rtlCol="0" anchor="ctr"/>
          <a:lstStyle/>
          <a:p>
            <a:pPr algn="ctr" indent="0" marL="0">
              <a:buNone/>
            </a:pPr>
            <a:r>
              <a:rPr lang="en-US" sz="900" b="1" dirty="0">
                <a:solidFill>
                  <a:srgbClr val="1A365D"/>
                </a:solidFill>
                <a:latin typeface="Noto Sans JP" pitchFamily="34" charset="0"/>
                <a:ea typeface="Noto Sans JP" pitchFamily="34" charset="-122"/>
                <a:cs typeface="Noto Sans JP" pitchFamily="34" charset="-120"/>
              </a:rPr>
              <a:t>年代＼性別</a:t>
            </a:r>
            <a:endParaRPr lang="en-US" sz="900" dirty="0"/>
          </a:p>
        </p:txBody>
      </p:sp>
      <p:sp>
        <p:nvSpPr>
          <p:cNvPr id="38" name="Text 36"/>
          <p:cNvSpPr txBox="1"/>
          <p:nvPr/>
        </p:nvSpPr>
        <p:spPr>
          <a:xfrm>
            <a:off x="8651138" y="2505456"/>
            <a:ext cx="350215" cy="181051"/>
          </a:xfrm>
          <a:prstGeom prst="rect">
            <a:avLst/>
          </a:prstGeom>
          <a:noFill/>
          <a:ln/>
        </p:spPr>
        <p:txBody>
          <a:bodyPr wrap="square" lIns="0" tIns="0" rIns="0" bIns="0" rtlCol="0" anchor="ctr"/>
          <a:lstStyle/>
          <a:p>
            <a:pPr algn="ctr" indent="0" marL="0">
              <a:buNone/>
            </a:pPr>
            <a:r>
              <a:rPr lang="en-US" sz="900" b="1" dirty="0">
                <a:solidFill>
                  <a:srgbClr val="1A365D"/>
                </a:solidFill>
                <a:latin typeface="Noto Sans JP" pitchFamily="34" charset="0"/>
                <a:ea typeface="Noto Sans JP" pitchFamily="34" charset="-122"/>
                <a:cs typeface="Noto Sans JP" pitchFamily="34" charset="-120"/>
              </a:rPr>
              <a:t>男性</a:t>
            </a:r>
            <a:endParaRPr lang="en-US" sz="900" dirty="0"/>
          </a:p>
        </p:txBody>
      </p:sp>
      <p:sp>
        <p:nvSpPr>
          <p:cNvPr id="39" name="Text 37"/>
          <p:cNvSpPr txBox="1"/>
          <p:nvPr/>
        </p:nvSpPr>
        <p:spPr>
          <a:xfrm>
            <a:off x="9787738" y="2505456"/>
            <a:ext cx="350215" cy="181051"/>
          </a:xfrm>
          <a:prstGeom prst="rect">
            <a:avLst/>
          </a:prstGeom>
          <a:noFill/>
          <a:ln/>
        </p:spPr>
        <p:txBody>
          <a:bodyPr wrap="square" lIns="0" tIns="0" rIns="0" bIns="0" rtlCol="0" anchor="ctr"/>
          <a:lstStyle/>
          <a:p>
            <a:pPr algn="ctr" indent="0" marL="0">
              <a:buNone/>
            </a:pPr>
            <a:r>
              <a:rPr lang="en-US" sz="900" b="1" dirty="0">
                <a:solidFill>
                  <a:srgbClr val="1A365D"/>
                </a:solidFill>
                <a:latin typeface="Noto Sans JP" pitchFamily="34" charset="0"/>
                <a:ea typeface="Noto Sans JP" pitchFamily="34" charset="-122"/>
                <a:cs typeface="Noto Sans JP" pitchFamily="34" charset="-120"/>
              </a:rPr>
              <a:t>女性</a:t>
            </a:r>
            <a:endParaRPr lang="en-US" sz="900" dirty="0"/>
          </a:p>
        </p:txBody>
      </p:sp>
      <p:sp>
        <p:nvSpPr>
          <p:cNvPr id="40" name="Text 38"/>
          <p:cNvSpPr txBox="1"/>
          <p:nvPr/>
        </p:nvSpPr>
        <p:spPr>
          <a:xfrm>
            <a:off x="10985602" y="2505456"/>
            <a:ext cx="226771" cy="181051"/>
          </a:xfrm>
          <a:prstGeom prst="rect">
            <a:avLst/>
          </a:prstGeom>
          <a:noFill/>
          <a:ln/>
        </p:spPr>
        <p:txBody>
          <a:bodyPr wrap="square" lIns="0" tIns="0" rIns="0" bIns="0" rtlCol="0" anchor="ctr"/>
          <a:lstStyle/>
          <a:p>
            <a:pPr algn="ctr" indent="0" marL="0">
              <a:buNone/>
            </a:pPr>
            <a:r>
              <a:rPr lang="en-US" sz="900" b="1" dirty="0">
                <a:solidFill>
                  <a:srgbClr val="1A365D"/>
                </a:solidFill>
                <a:latin typeface="Noto Sans JP" pitchFamily="34" charset="0"/>
                <a:ea typeface="Noto Sans JP" pitchFamily="34" charset="-122"/>
                <a:cs typeface="Noto Sans JP" pitchFamily="34" charset="-120"/>
              </a:rPr>
              <a:t>計</a:t>
            </a:r>
            <a:endParaRPr lang="en-US" sz="900" dirty="0"/>
          </a:p>
        </p:txBody>
      </p:sp>
      <p:sp>
        <p:nvSpPr>
          <p:cNvPr id="41" name="Shape 39"/>
          <p:cNvSpPr/>
          <p:nvPr/>
        </p:nvSpPr>
        <p:spPr>
          <a:xfrm>
            <a:off x="6329477" y="2752344"/>
            <a:ext cx="1886407" cy="314554"/>
          </a:xfrm>
          <a:prstGeom prst="rect">
            <a:avLst/>
          </a:prstGeom>
          <a:noFill/>
          <a:ln w="12700">
            <a:solidFill>
              <a:srgbClr val="CBD5E0"/>
            </a:solidFill>
            <a:prstDash val="solid"/>
          </a:ln>
        </p:spPr>
      </p:sp>
      <p:sp>
        <p:nvSpPr>
          <p:cNvPr id="42" name="Shape 40"/>
          <p:cNvSpPr/>
          <p:nvPr/>
        </p:nvSpPr>
        <p:spPr>
          <a:xfrm>
            <a:off x="8206740" y="2752344"/>
            <a:ext cx="1143000" cy="314554"/>
          </a:xfrm>
          <a:prstGeom prst="rect">
            <a:avLst/>
          </a:prstGeom>
          <a:noFill/>
          <a:ln w="12700">
            <a:solidFill>
              <a:srgbClr val="CBD5E0"/>
            </a:solidFill>
            <a:prstDash val="solid"/>
          </a:ln>
        </p:spPr>
      </p:sp>
      <p:sp>
        <p:nvSpPr>
          <p:cNvPr id="43" name="Shape 41"/>
          <p:cNvSpPr/>
          <p:nvPr/>
        </p:nvSpPr>
        <p:spPr>
          <a:xfrm>
            <a:off x="9343339" y="2752344"/>
            <a:ext cx="1143000" cy="314554"/>
          </a:xfrm>
          <a:prstGeom prst="rect">
            <a:avLst/>
          </a:prstGeom>
          <a:noFill/>
          <a:ln w="12700">
            <a:solidFill>
              <a:srgbClr val="CBD5E0"/>
            </a:solidFill>
            <a:prstDash val="solid"/>
          </a:ln>
        </p:spPr>
      </p:sp>
      <p:sp>
        <p:nvSpPr>
          <p:cNvPr id="44" name="Shape 42"/>
          <p:cNvSpPr/>
          <p:nvPr/>
        </p:nvSpPr>
        <p:spPr>
          <a:xfrm>
            <a:off x="10479024" y="2752344"/>
            <a:ext cx="1143000" cy="314554"/>
          </a:xfrm>
          <a:prstGeom prst="rect">
            <a:avLst/>
          </a:prstGeom>
          <a:noFill/>
          <a:ln w="12700">
            <a:solidFill>
              <a:srgbClr val="CBD5E0"/>
            </a:solidFill>
            <a:prstDash val="solid"/>
          </a:ln>
        </p:spPr>
      </p:sp>
      <p:sp>
        <p:nvSpPr>
          <p:cNvPr id="45" name="Shape 43"/>
          <p:cNvSpPr/>
          <p:nvPr/>
        </p:nvSpPr>
        <p:spPr>
          <a:xfrm>
            <a:off x="6329477" y="3062326"/>
            <a:ext cx="1886407" cy="314554"/>
          </a:xfrm>
          <a:prstGeom prst="rect">
            <a:avLst/>
          </a:prstGeom>
          <a:noFill/>
          <a:ln w="12700">
            <a:solidFill>
              <a:srgbClr val="CBD5E0"/>
            </a:solidFill>
            <a:prstDash val="solid"/>
          </a:ln>
        </p:spPr>
      </p:sp>
      <p:sp>
        <p:nvSpPr>
          <p:cNvPr id="46" name="Shape 44"/>
          <p:cNvSpPr/>
          <p:nvPr/>
        </p:nvSpPr>
        <p:spPr>
          <a:xfrm>
            <a:off x="8206740" y="3062326"/>
            <a:ext cx="1143000" cy="314554"/>
          </a:xfrm>
          <a:prstGeom prst="rect">
            <a:avLst/>
          </a:prstGeom>
          <a:noFill/>
          <a:ln w="12700">
            <a:solidFill>
              <a:srgbClr val="CBD5E0"/>
            </a:solidFill>
            <a:prstDash val="solid"/>
          </a:ln>
        </p:spPr>
      </p:sp>
      <p:sp>
        <p:nvSpPr>
          <p:cNvPr id="47" name="Shape 45"/>
          <p:cNvSpPr/>
          <p:nvPr/>
        </p:nvSpPr>
        <p:spPr>
          <a:xfrm>
            <a:off x="9343339" y="3062326"/>
            <a:ext cx="1143000" cy="314554"/>
          </a:xfrm>
          <a:prstGeom prst="rect">
            <a:avLst/>
          </a:prstGeom>
          <a:noFill/>
          <a:ln w="12700">
            <a:solidFill>
              <a:srgbClr val="CBD5E0"/>
            </a:solidFill>
            <a:prstDash val="solid"/>
          </a:ln>
        </p:spPr>
      </p:sp>
      <p:sp>
        <p:nvSpPr>
          <p:cNvPr id="48" name="Shape 46"/>
          <p:cNvSpPr/>
          <p:nvPr/>
        </p:nvSpPr>
        <p:spPr>
          <a:xfrm>
            <a:off x="10479024" y="3062326"/>
            <a:ext cx="1143000" cy="314554"/>
          </a:xfrm>
          <a:prstGeom prst="rect">
            <a:avLst/>
          </a:prstGeom>
          <a:noFill/>
          <a:ln w="12700">
            <a:solidFill>
              <a:srgbClr val="CBD5E0"/>
            </a:solidFill>
            <a:prstDash val="solid"/>
          </a:ln>
        </p:spPr>
      </p:sp>
      <p:sp>
        <p:nvSpPr>
          <p:cNvPr id="49" name="Shape 47"/>
          <p:cNvSpPr/>
          <p:nvPr/>
        </p:nvSpPr>
        <p:spPr>
          <a:xfrm>
            <a:off x="6329477" y="3372307"/>
            <a:ext cx="1886407" cy="314554"/>
          </a:xfrm>
          <a:prstGeom prst="rect">
            <a:avLst/>
          </a:prstGeom>
          <a:noFill/>
          <a:ln w="12700">
            <a:solidFill>
              <a:srgbClr val="CBD5E0"/>
            </a:solidFill>
            <a:prstDash val="solid"/>
          </a:ln>
        </p:spPr>
      </p:sp>
      <p:sp>
        <p:nvSpPr>
          <p:cNvPr id="50" name="Shape 48"/>
          <p:cNvSpPr/>
          <p:nvPr/>
        </p:nvSpPr>
        <p:spPr>
          <a:xfrm>
            <a:off x="8206740" y="3372307"/>
            <a:ext cx="1143000" cy="314554"/>
          </a:xfrm>
          <a:prstGeom prst="rect">
            <a:avLst/>
          </a:prstGeom>
          <a:noFill/>
          <a:ln w="12700">
            <a:solidFill>
              <a:srgbClr val="CBD5E0"/>
            </a:solidFill>
            <a:prstDash val="solid"/>
          </a:ln>
        </p:spPr>
      </p:sp>
      <p:sp>
        <p:nvSpPr>
          <p:cNvPr id="51" name="Shape 49"/>
          <p:cNvSpPr/>
          <p:nvPr/>
        </p:nvSpPr>
        <p:spPr>
          <a:xfrm>
            <a:off x="9343339" y="3372307"/>
            <a:ext cx="1143000" cy="314554"/>
          </a:xfrm>
          <a:prstGeom prst="rect">
            <a:avLst/>
          </a:prstGeom>
          <a:noFill/>
          <a:ln w="12700">
            <a:solidFill>
              <a:srgbClr val="CBD5E0"/>
            </a:solidFill>
            <a:prstDash val="solid"/>
          </a:ln>
        </p:spPr>
      </p:sp>
      <p:sp>
        <p:nvSpPr>
          <p:cNvPr id="52" name="Shape 50"/>
          <p:cNvSpPr/>
          <p:nvPr/>
        </p:nvSpPr>
        <p:spPr>
          <a:xfrm>
            <a:off x="10479024" y="3372307"/>
            <a:ext cx="1143000" cy="314554"/>
          </a:xfrm>
          <a:prstGeom prst="rect">
            <a:avLst/>
          </a:prstGeom>
          <a:noFill/>
          <a:ln w="12700">
            <a:solidFill>
              <a:srgbClr val="CBD5E0"/>
            </a:solidFill>
            <a:prstDash val="solid"/>
          </a:ln>
        </p:spPr>
      </p:sp>
      <p:sp>
        <p:nvSpPr>
          <p:cNvPr id="53" name="Shape 51"/>
          <p:cNvSpPr/>
          <p:nvPr/>
        </p:nvSpPr>
        <p:spPr>
          <a:xfrm>
            <a:off x="6329477" y="3681374"/>
            <a:ext cx="1886407" cy="314554"/>
          </a:xfrm>
          <a:prstGeom prst="rect">
            <a:avLst/>
          </a:prstGeom>
          <a:noFill/>
          <a:ln w="12700">
            <a:solidFill>
              <a:srgbClr val="CBD5E0"/>
            </a:solidFill>
            <a:prstDash val="solid"/>
          </a:ln>
        </p:spPr>
      </p:sp>
      <p:sp>
        <p:nvSpPr>
          <p:cNvPr id="54" name="Shape 52"/>
          <p:cNvSpPr/>
          <p:nvPr/>
        </p:nvSpPr>
        <p:spPr>
          <a:xfrm>
            <a:off x="8206740" y="3681374"/>
            <a:ext cx="1143000" cy="314554"/>
          </a:xfrm>
          <a:prstGeom prst="rect">
            <a:avLst/>
          </a:prstGeom>
          <a:noFill/>
          <a:ln w="12700">
            <a:solidFill>
              <a:srgbClr val="CBD5E0"/>
            </a:solidFill>
            <a:prstDash val="solid"/>
          </a:ln>
        </p:spPr>
      </p:sp>
      <p:sp>
        <p:nvSpPr>
          <p:cNvPr id="55" name="Shape 53"/>
          <p:cNvSpPr/>
          <p:nvPr/>
        </p:nvSpPr>
        <p:spPr>
          <a:xfrm>
            <a:off x="9343339" y="3681374"/>
            <a:ext cx="1143000" cy="314554"/>
          </a:xfrm>
          <a:prstGeom prst="rect">
            <a:avLst/>
          </a:prstGeom>
          <a:noFill/>
          <a:ln w="12700">
            <a:solidFill>
              <a:srgbClr val="CBD5E0"/>
            </a:solidFill>
            <a:prstDash val="solid"/>
          </a:ln>
        </p:spPr>
      </p:sp>
      <p:sp>
        <p:nvSpPr>
          <p:cNvPr id="56" name="Shape 54"/>
          <p:cNvSpPr/>
          <p:nvPr/>
        </p:nvSpPr>
        <p:spPr>
          <a:xfrm>
            <a:off x="10479024" y="3681374"/>
            <a:ext cx="1143000" cy="314554"/>
          </a:xfrm>
          <a:prstGeom prst="rect">
            <a:avLst/>
          </a:prstGeom>
          <a:noFill/>
          <a:ln w="12700">
            <a:solidFill>
              <a:srgbClr val="CBD5E0"/>
            </a:solidFill>
            <a:prstDash val="solid"/>
          </a:ln>
        </p:spPr>
      </p:sp>
      <p:sp>
        <p:nvSpPr>
          <p:cNvPr id="57" name="Shape 55"/>
          <p:cNvSpPr/>
          <p:nvPr/>
        </p:nvSpPr>
        <p:spPr>
          <a:xfrm>
            <a:off x="6329477" y="3991356"/>
            <a:ext cx="1886407" cy="314554"/>
          </a:xfrm>
          <a:prstGeom prst="rect">
            <a:avLst/>
          </a:prstGeom>
          <a:noFill/>
          <a:ln w="12700">
            <a:solidFill>
              <a:srgbClr val="CBD5E0"/>
            </a:solidFill>
            <a:prstDash val="solid"/>
          </a:ln>
        </p:spPr>
      </p:sp>
      <p:sp>
        <p:nvSpPr>
          <p:cNvPr id="58" name="Shape 56"/>
          <p:cNvSpPr/>
          <p:nvPr/>
        </p:nvSpPr>
        <p:spPr>
          <a:xfrm>
            <a:off x="8206740" y="3991356"/>
            <a:ext cx="1143000" cy="314554"/>
          </a:xfrm>
          <a:prstGeom prst="rect">
            <a:avLst/>
          </a:prstGeom>
          <a:noFill/>
          <a:ln w="12700">
            <a:solidFill>
              <a:srgbClr val="CBD5E0"/>
            </a:solidFill>
            <a:prstDash val="solid"/>
          </a:ln>
        </p:spPr>
      </p:sp>
      <p:sp>
        <p:nvSpPr>
          <p:cNvPr id="59" name="Shape 57"/>
          <p:cNvSpPr/>
          <p:nvPr/>
        </p:nvSpPr>
        <p:spPr>
          <a:xfrm>
            <a:off x="9343339" y="3991356"/>
            <a:ext cx="1143000" cy="314554"/>
          </a:xfrm>
          <a:prstGeom prst="rect">
            <a:avLst/>
          </a:prstGeom>
          <a:noFill/>
          <a:ln w="12700">
            <a:solidFill>
              <a:srgbClr val="CBD5E0"/>
            </a:solidFill>
            <a:prstDash val="solid"/>
          </a:ln>
        </p:spPr>
      </p:sp>
      <p:sp>
        <p:nvSpPr>
          <p:cNvPr id="60" name="Shape 58"/>
          <p:cNvSpPr/>
          <p:nvPr/>
        </p:nvSpPr>
        <p:spPr>
          <a:xfrm>
            <a:off x="10479024" y="3991356"/>
            <a:ext cx="1143000" cy="314554"/>
          </a:xfrm>
          <a:prstGeom prst="rect">
            <a:avLst/>
          </a:prstGeom>
          <a:noFill/>
          <a:ln w="12700">
            <a:solidFill>
              <a:srgbClr val="CBD5E0"/>
            </a:solidFill>
            <a:prstDash val="solid"/>
          </a:ln>
        </p:spPr>
      </p:sp>
      <p:sp>
        <p:nvSpPr>
          <p:cNvPr id="61" name="Text 59"/>
          <p:cNvSpPr txBox="1"/>
          <p:nvPr/>
        </p:nvSpPr>
        <p:spPr>
          <a:xfrm>
            <a:off x="7047281" y="2814523"/>
            <a:ext cx="541325"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20-29才</a:t>
            </a:r>
            <a:endParaRPr lang="en-US" sz="900" dirty="0"/>
          </a:p>
        </p:txBody>
      </p:sp>
      <p:sp>
        <p:nvSpPr>
          <p:cNvPr id="62" name="Text 60"/>
          <p:cNvSpPr txBox="1"/>
          <p:nvPr/>
        </p:nvSpPr>
        <p:spPr>
          <a:xfrm>
            <a:off x="8672170" y="2814523"/>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404</a:t>
            </a:r>
            <a:endParaRPr lang="en-US" sz="900" dirty="0"/>
          </a:p>
        </p:txBody>
      </p:sp>
      <p:sp>
        <p:nvSpPr>
          <p:cNvPr id="63" name="Text 61"/>
          <p:cNvSpPr txBox="1"/>
          <p:nvPr/>
        </p:nvSpPr>
        <p:spPr>
          <a:xfrm>
            <a:off x="9807854" y="2814523"/>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389</a:t>
            </a:r>
            <a:endParaRPr lang="en-US" sz="900" dirty="0"/>
          </a:p>
        </p:txBody>
      </p:sp>
      <p:sp>
        <p:nvSpPr>
          <p:cNvPr id="64" name="Text 62"/>
          <p:cNvSpPr txBox="1"/>
          <p:nvPr/>
        </p:nvSpPr>
        <p:spPr>
          <a:xfrm>
            <a:off x="10944454" y="2814523"/>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793</a:t>
            </a:r>
            <a:endParaRPr lang="en-US" sz="900" dirty="0"/>
          </a:p>
        </p:txBody>
      </p:sp>
      <p:sp>
        <p:nvSpPr>
          <p:cNvPr id="65" name="Text 63"/>
          <p:cNvSpPr txBox="1"/>
          <p:nvPr/>
        </p:nvSpPr>
        <p:spPr>
          <a:xfrm>
            <a:off x="7047281" y="3124505"/>
            <a:ext cx="541325"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30-39才</a:t>
            </a:r>
            <a:endParaRPr lang="en-US" sz="900" dirty="0"/>
          </a:p>
        </p:txBody>
      </p:sp>
      <p:sp>
        <p:nvSpPr>
          <p:cNvPr id="66" name="Text 64"/>
          <p:cNvSpPr txBox="1"/>
          <p:nvPr/>
        </p:nvSpPr>
        <p:spPr>
          <a:xfrm>
            <a:off x="8672170" y="3124505"/>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464</a:t>
            </a:r>
            <a:endParaRPr lang="en-US" sz="900" dirty="0"/>
          </a:p>
        </p:txBody>
      </p:sp>
      <p:sp>
        <p:nvSpPr>
          <p:cNvPr id="67" name="Text 65"/>
          <p:cNvSpPr txBox="1"/>
          <p:nvPr/>
        </p:nvSpPr>
        <p:spPr>
          <a:xfrm>
            <a:off x="9807854" y="3124505"/>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451</a:t>
            </a:r>
            <a:endParaRPr lang="en-US" sz="900" dirty="0"/>
          </a:p>
        </p:txBody>
      </p:sp>
      <p:sp>
        <p:nvSpPr>
          <p:cNvPr id="68" name="Text 66"/>
          <p:cNvSpPr txBox="1"/>
          <p:nvPr/>
        </p:nvSpPr>
        <p:spPr>
          <a:xfrm>
            <a:off x="10944454" y="3124505"/>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915</a:t>
            </a:r>
            <a:endParaRPr lang="en-US" sz="900" dirty="0"/>
          </a:p>
        </p:txBody>
      </p:sp>
      <p:sp>
        <p:nvSpPr>
          <p:cNvPr id="69" name="Text 67"/>
          <p:cNvSpPr txBox="1"/>
          <p:nvPr/>
        </p:nvSpPr>
        <p:spPr>
          <a:xfrm>
            <a:off x="7047281" y="3433572"/>
            <a:ext cx="541325"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40-49才</a:t>
            </a:r>
            <a:endParaRPr lang="en-US" sz="900" dirty="0"/>
          </a:p>
        </p:txBody>
      </p:sp>
      <p:sp>
        <p:nvSpPr>
          <p:cNvPr id="70" name="Text 68"/>
          <p:cNvSpPr txBox="1"/>
          <p:nvPr/>
        </p:nvSpPr>
        <p:spPr>
          <a:xfrm>
            <a:off x="8672170" y="3433572"/>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600</a:t>
            </a:r>
            <a:endParaRPr lang="en-US" sz="900" dirty="0"/>
          </a:p>
        </p:txBody>
      </p:sp>
      <p:sp>
        <p:nvSpPr>
          <p:cNvPr id="71" name="Text 69"/>
          <p:cNvSpPr txBox="1"/>
          <p:nvPr/>
        </p:nvSpPr>
        <p:spPr>
          <a:xfrm>
            <a:off x="9807854" y="3433572"/>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590</a:t>
            </a:r>
            <a:endParaRPr lang="en-US" sz="900" dirty="0"/>
          </a:p>
        </p:txBody>
      </p:sp>
      <p:sp>
        <p:nvSpPr>
          <p:cNvPr id="72" name="Text 70"/>
          <p:cNvSpPr txBox="1"/>
          <p:nvPr/>
        </p:nvSpPr>
        <p:spPr>
          <a:xfrm>
            <a:off x="10893247" y="3433572"/>
            <a:ext cx="407822"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1,190</a:t>
            </a:r>
            <a:endParaRPr lang="en-US" sz="900" dirty="0"/>
          </a:p>
        </p:txBody>
      </p:sp>
      <p:sp>
        <p:nvSpPr>
          <p:cNvPr id="73" name="Text 71"/>
          <p:cNvSpPr txBox="1"/>
          <p:nvPr/>
        </p:nvSpPr>
        <p:spPr>
          <a:xfrm>
            <a:off x="7047281" y="3743554"/>
            <a:ext cx="541325"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50-59才</a:t>
            </a:r>
            <a:endParaRPr lang="en-US" sz="900" dirty="0"/>
          </a:p>
        </p:txBody>
      </p:sp>
      <p:sp>
        <p:nvSpPr>
          <p:cNvPr id="74" name="Text 72"/>
          <p:cNvSpPr txBox="1"/>
          <p:nvPr/>
        </p:nvSpPr>
        <p:spPr>
          <a:xfrm>
            <a:off x="8672170" y="3743554"/>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540</a:t>
            </a:r>
            <a:endParaRPr lang="en-US" sz="900" dirty="0"/>
          </a:p>
        </p:txBody>
      </p:sp>
      <p:sp>
        <p:nvSpPr>
          <p:cNvPr id="75" name="Text 73"/>
          <p:cNvSpPr txBox="1"/>
          <p:nvPr/>
        </p:nvSpPr>
        <p:spPr>
          <a:xfrm>
            <a:off x="9807854" y="3743554"/>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542</a:t>
            </a:r>
            <a:endParaRPr lang="en-US" sz="900" dirty="0"/>
          </a:p>
        </p:txBody>
      </p:sp>
      <p:sp>
        <p:nvSpPr>
          <p:cNvPr id="76" name="Text 74"/>
          <p:cNvSpPr txBox="1"/>
          <p:nvPr/>
        </p:nvSpPr>
        <p:spPr>
          <a:xfrm>
            <a:off x="10893247" y="3743554"/>
            <a:ext cx="407822"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1,082</a:t>
            </a:r>
            <a:endParaRPr lang="en-US" sz="900" dirty="0"/>
          </a:p>
        </p:txBody>
      </p:sp>
      <p:sp>
        <p:nvSpPr>
          <p:cNvPr id="77" name="Text 75"/>
          <p:cNvSpPr txBox="1"/>
          <p:nvPr/>
        </p:nvSpPr>
        <p:spPr>
          <a:xfrm>
            <a:off x="7047281" y="4052621"/>
            <a:ext cx="541325"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60-69才</a:t>
            </a:r>
            <a:endParaRPr lang="en-US" sz="900" dirty="0"/>
          </a:p>
        </p:txBody>
      </p:sp>
      <p:sp>
        <p:nvSpPr>
          <p:cNvPr id="78" name="Text 76"/>
          <p:cNvSpPr txBox="1"/>
          <p:nvPr/>
        </p:nvSpPr>
        <p:spPr>
          <a:xfrm>
            <a:off x="8672170" y="4052621"/>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498</a:t>
            </a:r>
            <a:endParaRPr lang="en-US" sz="900" dirty="0"/>
          </a:p>
        </p:txBody>
      </p:sp>
      <p:sp>
        <p:nvSpPr>
          <p:cNvPr id="79" name="Text 77"/>
          <p:cNvSpPr txBox="1"/>
          <p:nvPr/>
        </p:nvSpPr>
        <p:spPr>
          <a:xfrm>
            <a:off x="9807854" y="4052621"/>
            <a:ext cx="302666"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522</a:t>
            </a:r>
            <a:endParaRPr lang="en-US" sz="900" dirty="0"/>
          </a:p>
        </p:txBody>
      </p:sp>
      <p:sp>
        <p:nvSpPr>
          <p:cNvPr id="80" name="Text 78"/>
          <p:cNvSpPr txBox="1"/>
          <p:nvPr/>
        </p:nvSpPr>
        <p:spPr>
          <a:xfrm>
            <a:off x="10893247" y="4052621"/>
            <a:ext cx="407822" cy="181051"/>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1,020</a:t>
            </a:r>
            <a:endParaRPr lang="en-US" sz="900" dirty="0"/>
          </a:p>
        </p:txBody>
      </p:sp>
      <p:sp>
        <p:nvSpPr>
          <p:cNvPr id="81" name="Shape 79"/>
          <p:cNvSpPr/>
          <p:nvPr/>
        </p:nvSpPr>
        <p:spPr>
          <a:xfrm>
            <a:off x="6329477" y="4300423"/>
            <a:ext cx="5286146" cy="314554"/>
          </a:xfrm>
          <a:prstGeom prst="rect">
            <a:avLst/>
          </a:prstGeom>
          <a:solidFill>
            <a:srgbClr val="EDF2F7"/>
          </a:solidFill>
          <a:ln/>
        </p:spPr>
      </p:sp>
      <p:sp>
        <p:nvSpPr>
          <p:cNvPr id="82" name="Shape 80"/>
          <p:cNvSpPr/>
          <p:nvPr/>
        </p:nvSpPr>
        <p:spPr>
          <a:xfrm>
            <a:off x="6329477" y="4300423"/>
            <a:ext cx="1886407" cy="314554"/>
          </a:xfrm>
          <a:prstGeom prst="rect">
            <a:avLst/>
          </a:prstGeom>
          <a:noFill/>
          <a:ln w="12700">
            <a:solidFill>
              <a:srgbClr val="CBD5E0"/>
            </a:solidFill>
            <a:prstDash val="solid"/>
          </a:ln>
        </p:spPr>
      </p:sp>
      <p:sp>
        <p:nvSpPr>
          <p:cNvPr id="83" name="Shape 81"/>
          <p:cNvSpPr/>
          <p:nvPr/>
        </p:nvSpPr>
        <p:spPr>
          <a:xfrm>
            <a:off x="8206740" y="4300423"/>
            <a:ext cx="1143000" cy="314554"/>
          </a:xfrm>
          <a:prstGeom prst="rect">
            <a:avLst/>
          </a:prstGeom>
          <a:noFill/>
          <a:ln w="12700">
            <a:solidFill>
              <a:srgbClr val="CBD5E0"/>
            </a:solidFill>
            <a:prstDash val="solid"/>
          </a:ln>
        </p:spPr>
      </p:sp>
      <p:sp>
        <p:nvSpPr>
          <p:cNvPr id="84" name="Shape 82"/>
          <p:cNvSpPr/>
          <p:nvPr/>
        </p:nvSpPr>
        <p:spPr>
          <a:xfrm>
            <a:off x="9343339" y="4300423"/>
            <a:ext cx="1143000" cy="314554"/>
          </a:xfrm>
          <a:prstGeom prst="rect">
            <a:avLst/>
          </a:prstGeom>
          <a:noFill/>
          <a:ln w="12700">
            <a:solidFill>
              <a:srgbClr val="CBD5E0"/>
            </a:solidFill>
            <a:prstDash val="solid"/>
          </a:ln>
        </p:spPr>
      </p:sp>
      <p:sp>
        <p:nvSpPr>
          <p:cNvPr id="85" name="Shape 83"/>
          <p:cNvSpPr/>
          <p:nvPr/>
        </p:nvSpPr>
        <p:spPr>
          <a:xfrm>
            <a:off x="10479024" y="4300423"/>
            <a:ext cx="1143000" cy="314554"/>
          </a:xfrm>
          <a:prstGeom prst="rect">
            <a:avLst/>
          </a:prstGeom>
          <a:noFill/>
          <a:ln w="12700">
            <a:solidFill>
              <a:srgbClr val="CBD5E0"/>
            </a:solidFill>
            <a:prstDash val="solid"/>
          </a:ln>
        </p:spPr>
      </p:sp>
      <p:sp>
        <p:nvSpPr>
          <p:cNvPr id="86" name="Text 84"/>
          <p:cNvSpPr txBox="1"/>
          <p:nvPr/>
        </p:nvSpPr>
        <p:spPr>
          <a:xfrm>
            <a:off x="7206386" y="4362602"/>
            <a:ext cx="226771" cy="181051"/>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計</a:t>
            </a:r>
            <a:endParaRPr lang="en-US" sz="900" dirty="0"/>
          </a:p>
        </p:txBody>
      </p:sp>
      <p:sp>
        <p:nvSpPr>
          <p:cNvPr id="87" name="Text 85"/>
          <p:cNvSpPr txBox="1"/>
          <p:nvPr/>
        </p:nvSpPr>
        <p:spPr>
          <a:xfrm>
            <a:off x="8611819" y="4362602"/>
            <a:ext cx="427025" cy="181051"/>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2,506</a:t>
            </a:r>
            <a:endParaRPr lang="en-US" sz="900" dirty="0"/>
          </a:p>
        </p:txBody>
      </p:sp>
      <p:sp>
        <p:nvSpPr>
          <p:cNvPr id="88" name="Text 86"/>
          <p:cNvSpPr txBox="1"/>
          <p:nvPr/>
        </p:nvSpPr>
        <p:spPr>
          <a:xfrm>
            <a:off x="9748418" y="4362602"/>
            <a:ext cx="427025" cy="181051"/>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2,494</a:t>
            </a:r>
            <a:endParaRPr lang="en-US" sz="900" dirty="0"/>
          </a:p>
        </p:txBody>
      </p:sp>
      <p:sp>
        <p:nvSpPr>
          <p:cNvPr id="89" name="Text 87"/>
          <p:cNvSpPr txBox="1"/>
          <p:nvPr/>
        </p:nvSpPr>
        <p:spPr>
          <a:xfrm>
            <a:off x="10885018" y="4362602"/>
            <a:ext cx="427025" cy="181051"/>
          </a:xfrm>
          <a:prstGeom prst="rect">
            <a:avLst/>
          </a:prstGeom>
          <a:noFill/>
          <a:ln/>
        </p:spPr>
        <p:txBody>
          <a:bodyPr wrap="square" lIns="0" tIns="0" rIns="0" bIns="0" rtlCol="0" anchor="ctr"/>
          <a:lstStyle/>
          <a:p>
            <a:pPr algn="ctr" indent="0" marL="0">
              <a:buNone/>
            </a:pPr>
            <a:r>
              <a:rPr lang="en-US" sz="900" b="1" dirty="0">
                <a:solidFill>
                  <a:srgbClr val="000000"/>
                </a:solidFill>
                <a:latin typeface="Noto Sans JP" pitchFamily="34" charset="0"/>
                <a:ea typeface="Noto Sans JP" pitchFamily="34" charset="-122"/>
                <a:cs typeface="Noto Sans JP" pitchFamily="34" charset="-120"/>
              </a:rPr>
              <a:t>5,000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Shape 1"/>
          <p:cNvSpPr/>
          <p:nvPr/>
        </p:nvSpPr>
        <p:spPr>
          <a:xfrm>
            <a:off x="10370210" y="228600"/>
            <a:ext cx="1591056" cy="267005"/>
          </a:xfrm>
          <a:prstGeom prst="roundRect">
            <a:avLst>
              <a:gd name="adj" fmla="val 48924"/>
            </a:avLst>
          </a:prstGeom>
          <a:solidFill>
            <a:srgbClr val="3182CE"/>
          </a:solidFill>
          <a:ln/>
        </p:spPr>
      </p:sp>
      <p:sp>
        <p:nvSpPr>
          <p:cNvPr id="4" name="Text 2"/>
          <p:cNvSpPr txBox="1"/>
          <p:nvPr/>
        </p:nvSpPr>
        <p:spPr>
          <a:xfrm>
            <a:off x="10484510" y="267005"/>
            <a:ext cx="1455725" cy="181051"/>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エグゼクティブサマリー</a:t>
            </a:r>
            <a:endParaRPr lang="en-US" sz="900" dirty="0"/>
          </a:p>
        </p:txBody>
      </p:sp>
      <p:sp>
        <p:nvSpPr>
          <p:cNvPr id="5" name="Text 3"/>
          <p:cNvSpPr txBox="1"/>
          <p:nvPr/>
        </p:nvSpPr>
        <p:spPr>
          <a:xfrm>
            <a:off x="571500" y="237744"/>
            <a:ext cx="3572561" cy="438912"/>
          </a:xfrm>
          <a:prstGeom prst="rect">
            <a:avLst/>
          </a:prstGeom>
          <a:noFill/>
          <a:ln/>
        </p:spPr>
        <p:txBody>
          <a:bodyPr wrap="square" lIns="0" tIns="0" rIns="0" bIns="0" rtlCol="0" anchor="ctr"/>
          <a:lstStyle/>
          <a:p>
            <a:pPr algn="l" indent="0" marL="0">
              <a:buNone/>
            </a:pPr>
            <a:r>
              <a:rPr lang="en-US" sz="2400" b="1" dirty="0">
                <a:solidFill>
                  <a:srgbClr val="1A365D"/>
                </a:solidFill>
                <a:latin typeface="Noto Sans JP" pitchFamily="34" charset="0"/>
                <a:ea typeface="Noto Sans JP" pitchFamily="34" charset="-122"/>
                <a:cs typeface="Noto Sans JP" pitchFamily="34" charset="-120"/>
              </a:rPr>
              <a:t>エグゼクティブサマリー</a:t>
            </a:r>
            <a:endParaRPr lang="en-US" sz="2400" dirty="0"/>
          </a:p>
        </p:txBody>
      </p:sp>
      <p:sp>
        <p:nvSpPr>
          <p:cNvPr id="6" name="Shape 4"/>
          <p:cNvSpPr/>
          <p:nvPr/>
        </p:nvSpPr>
        <p:spPr>
          <a:xfrm>
            <a:off x="571500" y="761695"/>
            <a:ext cx="761695" cy="28346"/>
          </a:xfrm>
          <a:prstGeom prst="rect">
            <a:avLst/>
          </a:prstGeom>
          <a:solidFill>
            <a:srgbClr val="3182CE"/>
          </a:solidFill>
          <a:ln/>
        </p:spPr>
      </p:sp>
      <p:sp>
        <p:nvSpPr>
          <p:cNvPr id="7" name="Shape 5"/>
          <p:cNvSpPr/>
          <p:nvPr/>
        </p:nvSpPr>
        <p:spPr>
          <a:xfrm>
            <a:off x="571500" y="942746"/>
            <a:ext cx="38405" cy="228600"/>
          </a:xfrm>
          <a:prstGeom prst="rect">
            <a:avLst/>
          </a:prstGeom>
          <a:solidFill>
            <a:srgbClr val="3182CE"/>
          </a:solidFill>
          <a:ln/>
        </p:spPr>
      </p:sp>
      <p:sp>
        <p:nvSpPr>
          <p:cNvPr id="8" name="Shape 6"/>
          <p:cNvSpPr/>
          <p:nvPr/>
        </p:nvSpPr>
        <p:spPr>
          <a:xfrm>
            <a:off x="571500" y="1742846"/>
            <a:ext cx="38405" cy="228600"/>
          </a:xfrm>
          <a:prstGeom prst="rect">
            <a:avLst/>
          </a:prstGeom>
          <a:solidFill>
            <a:srgbClr val="3182CE"/>
          </a:solidFill>
          <a:ln/>
        </p:spPr>
      </p:sp>
      <p:sp>
        <p:nvSpPr>
          <p:cNvPr id="9" name="Shape 7"/>
          <p:cNvSpPr/>
          <p:nvPr/>
        </p:nvSpPr>
        <p:spPr>
          <a:xfrm>
            <a:off x="571500" y="2542946"/>
            <a:ext cx="38405" cy="228600"/>
          </a:xfrm>
          <a:prstGeom prst="rect">
            <a:avLst/>
          </a:prstGeom>
          <a:solidFill>
            <a:srgbClr val="3182CE"/>
          </a:solidFill>
          <a:ln/>
        </p:spPr>
      </p:sp>
      <p:sp>
        <p:nvSpPr>
          <p:cNvPr id="10" name="Shape 8"/>
          <p:cNvSpPr/>
          <p:nvPr/>
        </p:nvSpPr>
        <p:spPr>
          <a:xfrm>
            <a:off x="571500" y="3343046"/>
            <a:ext cx="38405" cy="228600"/>
          </a:xfrm>
          <a:prstGeom prst="rect">
            <a:avLst/>
          </a:prstGeom>
          <a:solidFill>
            <a:srgbClr val="3182CE"/>
          </a:solidFill>
          <a:ln/>
        </p:spPr>
      </p:sp>
      <p:sp>
        <p:nvSpPr>
          <p:cNvPr id="11" name="Text 9"/>
          <p:cNvSpPr txBox="1"/>
          <p:nvPr/>
        </p:nvSpPr>
        <p:spPr>
          <a:xfrm>
            <a:off x="685800" y="942746"/>
            <a:ext cx="1191463"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家計の支出変化</a:t>
            </a:r>
            <a:endParaRPr lang="en-US" sz="1200" dirty="0"/>
          </a:p>
        </p:txBody>
      </p:sp>
      <p:sp>
        <p:nvSpPr>
          <p:cNvPr id="12" name="Text 10"/>
          <p:cNvSpPr txBox="1"/>
          <p:nvPr/>
        </p:nvSpPr>
        <p:spPr>
          <a:xfrm>
            <a:off x="685800" y="1742846"/>
            <a:ext cx="1191463"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将来の支出意向</a:t>
            </a:r>
            <a:endParaRPr lang="en-US" sz="1200" dirty="0"/>
          </a:p>
        </p:txBody>
      </p:sp>
      <p:sp>
        <p:nvSpPr>
          <p:cNvPr id="13" name="Text 11"/>
          <p:cNvSpPr txBox="1"/>
          <p:nvPr/>
        </p:nvSpPr>
        <p:spPr>
          <a:xfrm>
            <a:off x="685800" y="2542946"/>
            <a:ext cx="1791310"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価値観の変化とその影響</a:t>
            </a:r>
            <a:endParaRPr lang="en-US" sz="1200" dirty="0"/>
          </a:p>
        </p:txBody>
      </p:sp>
      <p:sp>
        <p:nvSpPr>
          <p:cNvPr id="14" name="Text 12"/>
          <p:cNvSpPr txBox="1"/>
          <p:nvPr/>
        </p:nvSpPr>
        <p:spPr>
          <a:xfrm>
            <a:off x="685800" y="3343046"/>
            <a:ext cx="1191463" cy="228600"/>
          </a:xfrm>
          <a:prstGeom prst="rect">
            <a:avLst/>
          </a:prstGeom>
          <a:noFill/>
          <a:ln/>
        </p:spPr>
        <p:txBody>
          <a:bodyPr wrap="square" lIns="0" tIns="0" rIns="0" bIns="0" rtlCol="0" anchor="ctr"/>
          <a:lstStyle/>
          <a:p>
            <a:pPr algn="l" indent="0" marL="0">
              <a:buNone/>
            </a:pPr>
            <a:r>
              <a:rPr lang="en-US" sz="1200" b="1" dirty="0">
                <a:solidFill>
                  <a:srgbClr val="2D3748"/>
                </a:solidFill>
                <a:latin typeface="Noto Sans JP" pitchFamily="34" charset="0"/>
                <a:ea typeface="Noto Sans JP" pitchFamily="34" charset="-122"/>
                <a:cs typeface="Noto Sans JP" pitchFamily="34" charset="-120"/>
              </a:rPr>
              <a:t>国際情勢の影響</a:t>
            </a:r>
            <a:endParaRPr lang="en-US" sz="1200" dirty="0"/>
          </a:p>
        </p:txBody>
      </p:sp>
      <p:sp>
        <p:nvSpPr>
          <p:cNvPr id="15" name="Text 13"/>
          <p:cNvSpPr txBox="1"/>
          <p:nvPr/>
        </p:nvSpPr>
        <p:spPr>
          <a:xfrm>
            <a:off x="685800" y="1228954"/>
            <a:ext cx="4205326"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全体の59.9%が節約傾向、29.7%が「特に変わらない」と回答。外食41.9%、衣類39.1%、食料品37.6%での節約意識が顕著。</a:t>
            </a:r>
            <a:endParaRPr lang="en-US" sz="1000" dirty="0"/>
          </a:p>
        </p:txBody>
      </p:sp>
      <p:sp>
        <p:nvSpPr>
          <p:cNvPr id="16" name="Text 14"/>
          <p:cNvSpPr txBox="1"/>
          <p:nvPr/>
        </p:nvSpPr>
        <p:spPr>
          <a:xfrm>
            <a:off x="685800" y="2029054"/>
            <a:ext cx="4205326"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景気回復時の支出意向は、国内旅行40.8%、外食32.7%、趣味・娯楽29.1%の順。衣類・ファッションも22.8%と高い関心。</a:t>
            </a:r>
            <a:endParaRPr lang="en-US" sz="1000" dirty="0"/>
          </a:p>
        </p:txBody>
      </p:sp>
      <p:sp>
        <p:nvSpPr>
          <p:cNvPr id="17" name="Text 15"/>
          <p:cNvSpPr txBox="1"/>
          <p:nvPr/>
        </p:nvSpPr>
        <p:spPr>
          <a:xfrm>
            <a:off x="685800" y="2829154"/>
            <a:ext cx="4196182"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コストパフォーマンス重視34.2%、ポイント活用31.6%、メリハリ消費29.8%と、コスト意識が強まる傾向。</a:t>
            </a:r>
            <a:endParaRPr lang="en-US" sz="1000" dirty="0"/>
          </a:p>
        </p:txBody>
      </p:sp>
      <p:sp>
        <p:nvSpPr>
          <p:cNvPr id="18" name="Text 16"/>
          <p:cNvSpPr txBox="1"/>
          <p:nvPr/>
        </p:nvSpPr>
        <p:spPr>
          <a:xfrm>
            <a:off x="685800" y="3629254"/>
            <a:ext cx="4215384"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トランプ前大統領の当選に対し、期待と不安の両面16.9%、外交関係の不安13.4%が上位テーマに。</a:t>
            </a:r>
            <a:endParaRPr lang="en-US" sz="1000" dirty="0"/>
          </a:p>
        </p:txBody>
      </p:sp>
      <p:sp>
        <p:nvSpPr>
          <p:cNvPr id="19" name="Text 17"/>
          <p:cNvSpPr txBox="1"/>
          <p:nvPr/>
        </p:nvSpPr>
        <p:spPr>
          <a:xfrm>
            <a:off x="6181344" y="1037844"/>
            <a:ext cx="1034186" cy="191110"/>
          </a:xfrm>
          <a:prstGeom prst="rect">
            <a:avLst/>
          </a:prstGeom>
          <a:noFill/>
          <a:ln/>
        </p:spPr>
        <p:txBody>
          <a:bodyPr wrap="square" lIns="0" tIns="0" rIns="0" bIns="0" rtlCol="0" anchor="ctr"/>
          <a:lstStyle/>
          <a:p>
            <a:pPr algn="ctr" indent="0" marL="0">
              <a:buNone/>
            </a:pPr>
            <a:r>
              <a:rPr lang="en-US" sz="1000" b="1" dirty="0">
                <a:solidFill>
                  <a:srgbClr val="2D3748"/>
                </a:solidFill>
                <a:latin typeface="Noto Sans JP" pitchFamily="34" charset="0"/>
                <a:ea typeface="Noto Sans JP" pitchFamily="34" charset="-122"/>
                <a:cs typeface="Noto Sans JP" pitchFamily="34" charset="-120"/>
              </a:rPr>
              <a:t>節約傾向の割合</a:t>
            </a:r>
            <a:endParaRPr lang="en-US" sz="1000" dirty="0"/>
          </a:p>
        </p:txBody>
      </p:sp>
      <p:pic>
        <p:nvPicPr>
          <p:cNvPr id="20" name="Image 0" descr="preencoded.png">    </p:cNvPr>
          <p:cNvPicPr>
            <a:picLocks noChangeAspect="1"/>
          </p:cNvPicPr>
          <p:nvPr/>
        </p:nvPicPr>
        <p:blipFill>
          <a:blip r:embed="rId1"/>
          <a:srcRect l="-9" r="-9" t="0" b="0"/>
          <a:stretch/>
        </p:blipFill>
        <p:spPr>
          <a:xfrm>
            <a:off x="5086807" y="1276502"/>
            <a:ext cx="3124505" cy="1809598"/>
          </a:xfrm>
          <a:prstGeom prst="rect">
            <a:avLst/>
          </a:prstGeom>
        </p:spPr>
      </p:pic>
      <p:sp>
        <p:nvSpPr>
          <p:cNvPr id="21" name="Text 18"/>
          <p:cNvSpPr txBox="1"/>
          <p:nvPr/>
        </p:nvSpPr>
        <p:spPr>
          <a:xfrm>
            <a:off x="9156802" y="942746"/>
            <a:ext cx="1815084" cy="191110"/>
          </a:xfrm>
          <a:prstGeom prst="rect">
            <a:avLst/>
          </a:prstGeom>
          <a:noFill/>
          <a:ln/>
        </p:spPr>
        <p:txBody>
          <a:bodyPr wrap="square" lIns="0" tIns="0" rIns="0" bIns="0" rtlCol="0" anchor="ctr"/>
          <a:lstStyle/>
          <a:p>
            <a:pPr algn="ctr" indent="0" marL="0">
              <a:buNone/>
            </a:pPr>
            <a:r>
              <a:rPr lang="en-US" sz="1000" b="1" dirty="0">
                <a:solidFill>
                  <a:srgbClr val="2D3748"/>
                </a:solidFill>
                <a:latin typeface="Noto Sans JP" pitchFamily="34" charset="0"/>
                <a:ea typeface="Noto Sans JP" pitchFamily="34" charset="-122"/>
                <a:cs typeface="Noto Sans JP" pitchFamily="34" charset="-120"/>
              </a:rPr>
              <a:t>景気回復時の支出意向 TOP3</a:t>
            </a:r>
            <a:endParaRPr lang="en-US" sz="1000" dirty="0"/>
          </a:p>
        </p:txBody>
      </p:sp>
      <p:sp>
        <p:nvSpPr>
          <p:cNvPr id="22" name="Text 19"/>
          <p:cNvSpPr txBox="1"/>
          <p:nvPr/>
        </p:nvSpPr>
        <p:spPr>
          <a:xfrm>
            <a:off x="9423806" y="3133649"/>
            <a:ext cx="1281989" cy="191110"/>
          </a:xfrm>
          <a:prstGeom prst="rect">
            <a:avLst/>
          </a:prstGeom>
          <a:noFill/>
          <a:ln/>
        </p:spPr>
        <p:txBody>
          <a:bodyPr wrap="square" lIns="0" tIns="0" rIns="0" bIns="0" rtlCol="0" anchor="ctr"/>
          <a:lstStyle/>
          <a:p>
            <a:pPr algn="ctr" indent="0" marL="0">
              <a:buNone/>
            </a:pPr>
            <a:r>
              <a:rPr lang="en-US" sz="1000" b="1" dirty="0">
                <a:solidFill>
                  <a:srgbClr val="2D3748"/>
                </a:solidFill>
                <a:latin typeface="Noto Sans JP" pitchFamily="34" charset="0"/>
                <a:ea typeface="Noto Sans JP" pitchFamily="34" charset="-122"/>
                <a:cs typeface="Noto Sans JP" pitchFamily="34" charset="-120"/>
              </a:rPr>
              <a:t>価値観の変化 TOP3</a:t>
            </a:r>
            <a:endParaRPr lang="en-US" sz="1000" dirty="0"/>
          </a:p>
        </p:txBody>
      </p:sp>
      <p:pic>
        <p:nvPicPr>
          <p:cNvPr id="23" name="Image 1" descr="preencoded.png">    </p:cNvPr>
          <p:cNvPicPr>
            <a:picLocks noChangeAspect="1"/>
          </p:cNvPicPr>
          <p:nvPr/>
        </p:nvPicPr>
        <p:blipFill>
          <a:blip r:embed="rId2"/>
          <a:srcRect l="-2" r="-2" t="0" b="0"/>
          <a:stretch/>
        </p:blipFill>
        <p:spPr>
          <a:xfrm>
            <a:off x="8401507" y="1181405"/>
            <a:ext cx="3219602" cy="1714500"/>
          </a:xfrm>
          <a:prstGeom prst="rect">
            <a:avLst/>
          </a:prstGeom>
        </p:spPr>
      </p:pic>
      <p:pic>
        <p:nvPicPr>
          <p:cNvPr id="24" name="Image 2" descr="preencoded.png">    </p:cNvPr>
          <p:cNvPicPr>
            <a:picLocks noChangeAspect="1"/>
          </p:cNvPicPr>
          <p:nvPr/>
        </p:nvPicPr>
        <p:blipFill>
          <a:blip r:embed="rId3"/>
          <a:srcRect l="-2" r="-2" t="0" b="0"/>
          <a:stretch/>
        </p:blipFill>
        <p:spPr>
          <a:xfrm>
            <a:off x="8401507" y="3372307"/>
            <a:ext cx="3219602" cy="1714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47802"/>
            <a:ext cx="3838651" cy="438912"/>
          </a:xfrm>
          <a:prstGeom prst="rect">
            <a:avLst/>
          </a:prstGeom>
          <a:noFill/>
          <a:ln/>
        </p:spPr>
        <p:txBody>
          <a:bodyPr wrap="square" lIns="0" tIns="0" rIns="0" bIns="0" rtlCol="0" anchor="ctr"/>
          <a:lstStyle/>
          <a:p>
            <a:pPr algn="l" indent="0" marL="0">
              <a:buNone/>
            </a:pPr>
            <a:r>
              <a:rPr lang="en-US" sz="2400" b="1" dirty="0">
                <a:solidFill>
                  <a:srgbClr val="1A365D"/>
                </a:solidFill>
                <a:latin typeface="Noto Sans JP" pitchFamily="34" charset="0"/>
                <a:ea typeface="Noto Sans JP" pitchFamily="34" charset="-122"/>
                <a:cs typeface="Noto Sans JP" pitchFamily="34" charset="-120"/>
              </a:rPr>
              <a:t>家計の支出変化 - 定量分析</a:t>
            </a:r>
            <a:endParaRPr lang="en-US" sz="2400" dirty="0"/>
          </a:p>
        </p:txBody>
      </p:sp>
      <p:sp>
        <p:nvSpPr>
          <p:cNvPr id="4" name="Shape 2"/>
          <p:cNvSpPr/>
          <p:nvPr/>
        </p:nvSpPr>
        <p:spPr>
          <a:xfrm>
            <a:off x="571500" y="790956"/>
            <a:ext cx="761695" cy="28346"/>
          </a:xfrm>
          <a:prstGeom prst="rect">
            <a:avLst/>
          </a:prstGeom>
          <a:solidFill>
            <a:srgbClr val="3182CE"/>
          </a:solidFill>
          <a:ln/>
        </p:spPr>
      </p:sp>
      <p:sp>
        <p:nvSpPr>
          <p:cNvPr id="5" name="Text 3"/>
          <p:cNvSpPr txBox="1"/>
          <p:nvPr/>
        </p:nvSpPr>
        <p:spPr>
          <a:xfrm>
            <a:off x="571500" y="1009498"/>
            <a:ext cx="4939589" cy="247802"/>
          </a:xfrm>
          <a:prstGeom prst="rect">
            <a:avLst/>
          </a:prstGeom>
          <a:noFill/>
          <a:ln/>
        </p:spPr>
        <p:txBody>
          <a:bodyPr wrap="square" lIns="0" tIns="0" rIns="0" bIns="0" rtlCol="0" anchor="ctr"/>
          <a:lstStyle/>
          <a:p>
            <a:pPr algn="l" indent="0" marL="0">
              <a:buNone/>
            </a:pPr>
            <a:r>
              <a:rPr lang="en-US" sz="1300" dirty="0">
                <a:solidFill>
                  <a:srgbClr val="2D3748"/>
                </a:solidFill>
                <a:latin typeface="Noto Sans JP" pitchFamily="34" charset="0"/>
                <a:ea typeface="Noto Sans JP" pitchFamily="34" charset="-122"/>
                <a:cs typeface="Noto Sans JP" pitchFamily="34" charset="-120"/>
              </a:rPr>
              <a:t>設問: この1年程の間で、あなたの消費に変化はありましたか。</a:t>
            </a:r>
            <a:endParaRPr lang="en-US" sz="1300" dirty="0"/>
          </a:p>
        </p:txBody>
      </p:sp>
      <p:pic>
        <p:nvPicPr>
          <p:cNvPr id="6" name="Image 0" descr="preencoded.png">    </p:cNvPr>
          <p:cNvPicPr>
            <a:picLocks noChangeAspect="1"/>
          </p:cNvPicPr>
          <p:nvPr/>
        </p:nvPicPr>
        <p:blipFill>
          <a:blip r:embed="rId1"/>
          <a:srcRect l="0" r="0" t="-6" b="-6"/>
          <a:stretch/>
        </p:blipFill>
        <p:spPr>
          <a:xfrm>
            <a:off x="571500" y="1380744"/>
            <a:ext cx="11048695" cy="3238805"/>
          </a:xfrm>
          <a:prstGeom prst="rect">
            <a:avLst/>
          </a:prstGeom>
        </p:spPr>
      </p:pic>
      <p:sp>
        <p:nvSpPr>
          <p:cNvPr id="7" name="Shape 4"/>
          <p:cNvSpPr/>
          <p:nvPr/>
        </p:nvSpPr>
        <p:spPr>
          <a:xfrm>
            <a:off x="571500" y="4858207"/>
            <a:ext cx="11048695" cy="1133856"/>
          </a:xfrm>
          <a:prstGeom prst="rect">
            <a:avLst/>
          </a:prstGeom>
          <a:solidFill>
            <a:srgbClr val="EBF8FF"/>
          </a:solidFill>
          <a:ln/>
        </p:spPr>
      </p:sp>
      <p:sp>
        <p:nvSpPr>
          <p:cNvPr id="8" name="Shape 5"/>
          <p:cNvSpPr/>
          <p:nvPr/>
        </p:nvSpPr>
        <p:spPr>
          <a:xfrm>
            <a:off x="571500" y="4858207"/>
            <a:ext cx="38405" cy="1133856"/>
          </a:xfrm>
          <a:prstGeom prst="rect">
            <a:avLst/>
          </a:prstGeom>
          <a:solidFill>
            <a:srgbClr val="3182CE"/>
          </a:solidFill>
          <a:ln/>
        </p:spPr>
      </p:sp>
      <p:sp>
        <p:nvSpPr>
          <p:cNvPr id="9" name="Text 6"/>
          <p:cNvSpPr txBox="1"/>
          <p:nvPr/>
        </p:nvSpPr>
        <p:spPr>
          <a:xfrm>
            <a:off x="800100" y="4972507"/>
            <a:ext cx="814730" cy="247802"/>
          </a:xfrm>
          <a:prstGeom prst="rect">
            <a:avLst/>
          </a:prstGeom>
          <a:noFill/>
          <a:ln/>
        </p:spPr>
        <p:txBody>
          <a:bodyPr wrap="square" lIns="0" tIns="0" rIns="0" bIns="0" rtlCol="0" anchor="ctr"/>
          <a:lstStyle/>
          <a:p>
            <a:pPr algn="l" indent="0" marL="0">
              <a:buNone/>
            </a:pPr>
            <a:r>
              <a:rPr lang="en-US" sz="1300" b="1" dirty="0">
                <a:solidFill>
                  <a:srgbClr val="2C5282"/>
                </a:solidFill>
                <a:latin typeface="Noto Sans JP" pitchFamily="34" charset="0"/>
                <a:ea typeface="Noto Sans JP" pitchFamily="34" charset="-122"/>
                <a:cs typeface="Noto Sans JP" pitchFamily="34" charset="-120"/>
              </a:rPr>
              <a:t>主要発見</a:t>
            </a:r>
            <a:endParaRPr lang="en-US" sz="1300" dirty="0"/>
          </a:p>
        </p:txBody>
      </p:sp>
      <p:sp>
        <p:nvSpPr>
          <p:cNvPr id="10" name="Text 7"/>
          <p:cNvSpPr txBox="1"/>
          <p:nvPr/>
        </p:nvSpPr>
        <p:spPr>
          <a:xfrm>
            <a:off x="800100" y="5305349"/>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8"/>
          <p:cNvSpPr txBox="1"/>
          <p:nvPr/>
        </p:nvSpPr>
        <p:spPr>
          <a:xfrm>
            <a:off x="800100" y="5591556"/>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9"/>
          <p:cNvSpPr txBox="1"/>
          <p:nvPr/>
        </p:nvSpPr>
        <p:spPr>
          <a:xfrm>
            <a:off x="933602" y="5296205"/>
            <a:ext cx="3143707" cy="228600"/>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特に変わらないが29.7%（一定の消費維持）</a:t>
            </a:r>
            <a:endParaRPr lang="en-US" sz="1200" dirty="0"/>
          </a:p>
        </p:txBody>
      </p:sp>
      <p:sp>
        <p:nvSpPr>
          <p:cNvPr id="13" name="Text 10"/>
          <p:cNvSpPr txBox="1"/>
          <p:nvPr/>
        </p:nvSpPr>
        <p:spPr>
          <a:xfrm>
            <a:off x="933602" y="5581498"/>
            <a:ext cx="2753258" cy="228600"/>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支出増加は7.3%のみ、節約志向が優勢</a:t>
            </a:r>
            <a:endParaRPr lang="en-US" sz="1200" dirty="0"/>
          </a:p>
        </p:txBody>
      </p:sp>
      <p:sp>
        <p:nvSpPr>
          <p:cNvPr id="14" name="Shape 11"/>
          <p:cNvSpPr/>
          <p:nvPr/>
        </p:nvSpPr>
        <p:spPr>
          <a:xfrm>
            <a:off x="10383926" y="237744"/>
            <a:ext cx="1571854" cy="286207"/>
          </a:xfrm>
          <a:prstGeom prst="roundRect">
            <a:avLst>
              <a:gd name="adj" fmla="val 42599"/>
            </a:avLst>
          </a:prstGeom>
          <a:solidFill>
            <a:srgbClr val="3182CE"/>
          </a:solidFill>
          <a:ln/>
        </p:spPr>
      </p:sp>
      <p:sp>
        <p:nvSpPr>
          <p:cNvPr id="15" name="Text 12"/>
          <p:cNvSpPr txBox="1"/>
          <p:nvPr/>
        </p:nvSpPr>
        <p:spPr>
          <a:xfrm>
            <a:off x="10479024" y="286207"/>
            <a:ext cx="1474013" cy="181051"/>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テーマ1: 家計の支出変化</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4167835" cy="419710"/>
          </a:xfrm>
          <a:prstGeom prst="rect">
            <a:avLst/>
          </a:prstGeom>
          <a:noFill/>
          <a:ln/>
        </p:spPr>
        <p:txBody>
          <a:bodyPr wrap="square" lIns="0" tIns="0" rIns="0" bIns="0" rtlCol="0" anchor="ctr"/>
          <a:lstStyle/>
          <a:p>
            <a:pPr algn="l" indent="0" marL="0">
              <a:buNone/>
            </a:pPr>
            <a:r>
              <a:rPr lang="en-US" sz="2200" b="1" dirty="0">
                <a:solidFill>
                  <a:srgbClr val="1A365D"/>
                </a:solidFill>
                <a:latin typeface="Noto Sans JP" pitchFamily="34" charset="0"/>
                <a:ea typeface="Noto Sans JP" pitchFamily="34" charset="-122"/>
                <a:cs typeface="Noto Sans JP" pitchFamily="34" charset="-120"/>
              </a:rPr>
              <a:t>節約意識が強い分野 - 定量分析</a:t>
            </a:r>
            <a:endParaRPr lang="en-US" sz="2200" dirty="0"/>
          </a:p>
        </p:txBody>
      </p:sp>
      <p:sp>
        <p:nvSpPr>
          <p:cNvPr id="4" name="Shape 2"/>
          <p:cNvSpPr/>
          <p:nvPr/>
        </p:nvSpPr>
        <p:spPr>
          <a:xfrm>
            <a:off x="571500" y="743407"/>
            <a:ext cx="761695" cy="28346"/>
          </a:xfrm>
          <a:prstGeom prst="rect">
            <a:avLst/>
          </a:prstGeom>
          <a:solidFill>
            <a:srgbClr val="3182CE"/>
          </a:solidFill>
          <a:ln/>
        </p:spPr>
      </p:sp>
      <p:sp>
        <p:nvSpPr>
          <p:cNvPr id="5" name="Text 3"/>
          <p:cNvSpPr txBox="1"/>
          <p:nvPr/>
        </p:nvSpPr>
        <p:spPr>
          <a:xfrm>
            <a:off x="571500" y="961949"/>
            <a:ext cx="5160874" cy="238658"/>
          </a:xfrm>
          <a:prstGeom prst="rect">
            <a:avLst/>
          </a:prstGeom>
          <a:noFill/>
          <a:ln/>
        </p:spPr>
        <p:txBody>
          <a:bodyPr wrap="square" lIns="0" tIns="0" rIns="0" bIns="0" rtlCol="0" anchor="ctr"/>
          <a:lstStyle/>
          <a:p>
            <a:pPr algn="l" indent="0" marL="0">
              <a:buNone/>
            </a:pPr>
            <a:r>
              <a:rPr lang="en-US" sz="1200" dirty="0">
                <a:solidFill>
                  <a:srgbClr val="2D3748"/>
                </a:solidFill>
                <a:latin typeface="Noto Sans JP" pitchFamily="34" charset="0"/>
                <a:ea typeface="Noto Sans JP" pitchFamily="34" charset="-122"/>
                <a:cs typeface="Noto Sans JP" pitchFamily="34" charset="-120"/>
              </a:rPr>
              <a:t>設問: 節約意識が強い分野を、強い順に上位3つまでお選びください。</a:t>
            </a:r>
            <a:endParaRPr lang="en-US" sz="1200" dirty="0"/>
          </a:p>
        </p:txBody>
      </p:sp>
      <p:pic>
        <p:nvPicPr>
          <p:cNvPr id="6" name="Image 0" descr="preencoded.png">    </p:cNvPr>
          <p:cNvPicPr>
            <a:picLocks noChangeAspect="1"/>
          </p:cNvPicPr>
          <p:nvPr/>
        </p:nvPicPr>
        <p:blipFill>
          <a:blip r:embed="rId1"/>
          <a:srcRect l="0" r="0" t="-6" b="-6"/>
          <a:stretch/>
        </p:blipFill>
        <p:spPr>
          <a:xfrm>
            <a:off x="571500" y="1300277"/>
            <a:ext cx="11048695" cy="3238805"/>
          </a:xfrm>
          <a:prstGeom prst="rect">
            <a:avLst/>
          </a:prstGeom>
        </p:spPr>
      </p:pic>
      <p:sp>
        <p:nvSpPr>
          <p:cNvPr id="7" name="Shape 4"/>
          <p:cNvSpPr/>
          <p:nvPr/>
        </p:nvSpPr>
        <p:spPr>
          <a:xfrm>
            <a:off x="571500" y="4805172"/>
            <a:ext cx="11048695" cy="1123798"/>
          </a:xfrm>
          <a:prstGeom prst="rect">
            <a:avLst/>
          </a:prstGeom>
          <a:solidFill>
            <a:srgbClr val="EBF8FF"/>
          </a:solidFill>
          <a:ln/>
        </p:spPr>
      </p:sp>
      <p:sp>
        <p:nvSpPr>
          <p:cNvPr id="8" name="Shape 5"/>
          <p:cNvSpPr/>
          <p:nvPr/>
        </p:nvSpPr>
        <p:spPr>
          <a:xfrm>
            <a:off x="571500" y="4805172"/>
            <a:ext cx="38405" cy="1123798"/>
          </a:xfrm>
          <a:prstGeom prst="rect">
            <a:avLst/>
          </a:prstGeom>
          <a:solidFill>
            <a:srgbClr val="3182CE"/>
          </a:solidFill>
          <a:ln/>
        </p:spPr>
      </p:sp>
      <p:sp>
        <p:nvSpPr>
          <p:cNvPr id="9" name="Text 6"/>
          <p:cNvSpPr txBox="1"/>
          <p:nvPr/>
        </p:nvSpPr>
        <p:spPr>
          <a:xfrm>
            <a:off x="780898" y="4919472"/>
            <a:ext cx="769925" cy="238658"/>
          </a:xfrm>
          <a:prstGeom prst="rect">
            <a:avLst/>
          </a:prstGeom>
          <a:noFill/>
          <a:ln/>
        </p:spPr>
        <p:txBody>
          <a:bodyPr wrap="square" lIns="0" tIns="0" rIns="0" bIns="0" rtlCol="0" anchor="ctr"/>
          <a:lstStyle/>
          <a:p>
            <a:pPr algn="l" indent="0" marL="0">
              <a:buNone/>
            </a:pPr>
            <a:r>
              <a:rPr lang="en-US" sz="1200" b="1" dirty="0">
                <a:solidFill>
                  <a:srgbClr val="2C5282"/>
                </a:solidFill>
                <a:latin typeface="Noto Sans JP" pitchFamily="34" charset="0"/>
                <a:ea typeface="Noto Sans JP" pitchFamily="34" charset="-122"/>
                <a:cs typeface="Noto Sans JP" pitchFamily="34" charset="-120"/>
              </a:rPr>
              <a:t>主要発見</a:t>
            </a:r>
            <a:endParaRPr lang="en-US" sz="1200" dirty="0"/>
          </a:p>
        </p:txBody>
      </p:sp>
      <p:sp>
        <p:nvSpPr>
          <p:cNvPr id="10" name="Text 7"/>
          <p:cNvSpPr txBox="1"/>
          <p:nvPr/>
        </p:nvSpPr>
        <p:spPr>
          <a:xfrm>
            <a:off x="780898" y="5238598"/>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8"/>
          <p:cNvSpPr txBox="1"/>
          <p:nvPr/>
        </p:nvSpPr>
        <p:spPr>
          <a:xfrm>
            <a:off x="780898" y="552480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9"/>
          <p:cNvSpPr txBox="1"/>
          <p:nvPr/>
        </p:nvSpPr>
        <p:spPr>
          <a:xfrm>
            <a:off x="915314" y="5238598"/>
            <a:ext cx="4774997"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外食(41.9%)、衣類(39.1%)、食料品(37.6%)の順に節約意識が高い傾向。</a:t>
            </a:r>
            <a:endParaRPr lang="en-US" sz="1100" dirty="0"/>
          </a:p>
        </p:txBody>
      </p:sp>
      <p:sp>
        <p:nvSpPr>
          <p:cNvPr id="13" name="Text 10"/>
          <p:cNvSpPr txBox="1"/>
          <p:nvPr/>
        </p:nvSpPr>
        <p:spPr>
          <a:xfrm>
            <a:off x="915314" y="5524805"/>
            <a:ext cx="3974897"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生活必需品関連で複数分野にわたる節約意識が示唆される。</a:t>
            </a:r>
            <a:endParaRPr lang="en-US" sz="1100" dirty="0"/>
          </a:p>
        </p:txBody>
      </p:sp>
      <p:sp>
        <p:nvSpPr>
          <p:cNvPr id="14" name="Shape 11"/>
          <p:cNvSpPr/>
          <p:nvPr/>
        </p:nvSpPr>
        <p:spPr>
          <a:xfrm>
            <a:off x="10239451" y="142646"/>
            <a:ext cx="1714500" cy="295351"/>
          </a:xfrm>
          <a:prstGeom prst="roundRect">
            <a:avLst>
              <a:gd name="adj" fmla="val 39948"/>
            </a:avLst>
          </a:prstGeom>
          <a:solidFill>
            <a:srgbClr val="3182CE"/>
          </a:solidFill>
          <a:ln/>
        </p:spPr>
      </p:sp>
      <p:sp>
        <p:nvSpPr>
          <p:cNvPr id="15" name="Text 12"/>
          <p:cNvSpPr txBox="1"/>
          <p:nvPr/>
        </p:nvSpPr>
        <p:spPr>
          <a:xfrm>
            <a:off x="10353751" y="190195"/>
            <a:ext cx="1586484"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テーマ1: 家計の支出変化</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190195"/>
            <a:ext cx="4453128" cy="419710"/>
          </a:xfrm>
          <a:prstGeom prst="rect">
            <a:avLst/>
          </a:prstGeom>
          <a:noFill/>
          <a:ln/>
        </p:spPr>
        <p:txBody>
          <a:bodyPr wrap="square" lIns="0" tIns="0" rIns="0" bIns="0" rtlCol="0" anchor="ctr"/>
          <a:lstStyle/>
          <a:p>
            <a:pPr algn="l" indent="0" marL="0">
              <a:buNone/>
            </a:pPr>
            <a:r>
              <a:rPr lang="en-US" sz="2200" b="1" dirty="0">
                <a:solidFill>
                  <a:srgbClr val="1A365D"/>
                </a:solidFill>
                <a:latin typeface="Noto Sans JP" pitchFamily="34" charset="0"/>
                <a:ea typeface="Noto Sans JP" pitchFamily="34" charset="-122"/>
                <a:cs typeface="Noto Sans JP" pitchFamily="34" charset="-120"/>
              </a:rPr>
              <a:t>具体的な節約のしかた - 定性分析</a:t>
            </a:r>
            <a:endParaRPr lang="en-US" sz="2200" dirty="0"/>
          </a:p>
        </p:txBody>
      </p:sp>
      <p:sp>
        <p:nvSpPr>
          <p:cNvPr id="4" name="Shape 2"/>
          <p:cNvSpPr/>
          <p:nvPr/>
        </p:nvSpPr>
        <p:spPr>
          <a:xfrm>
            <a:off x="571500" y="694944"/>
            <a:ext cx="761695" cy="28346"/>
          </a:xfrm>
          <a:prstGeom prst="rect">
            <a:avLst/>
          </a:prstGeom>
          <a:solidFill>
            <a:srgbClr val="3182CE"/>
          </a:solidFill>
          <a:ln/>
        </p:spPr>
      </p:sp>
      <p:sp>
        <p:nvSpPr>
          <p:cNvPr id="5" name="Text 3"/>
          <p:cNvSpPr txBox="1"/>
          <p:nvPr/>
        </p:nvSpPr>
        <p:spPr>
          <a:xfrm>
            <a:off x="571500" y="886054"/>
            <a:ext cx="3234233" cy="391363"/>
          </a:xfrm>
          <a:prstGeom prst="rect">
            <a:avLst/>
          </a:prstGeom>
          <a:noFill/>
          <a:ln/>
        </p:spPr>
        <p:txBody>
          <a:bodyPr wrap="square" lIns="0" tIns="0" rIns="0" bIns="0" rtlCol="0" anchor="ctr"/>
          <a:lstStyle/>
          <a:p>
            <a:pPr algn="l" indent="0" marL="0">
              <a:buNone/>
            </a:pPr>
            <a:r>
              <a:rPr lang="en-US" sz="1000" dirty="0">
                <a:solidFill>
                  <a:srgbClr val="2D3748"/>
                </a:solidFill>
                <a:latin typeface="Noto Sans JP" pitchFamily="34" charset="0"/>
                <a:ea typeface="Noto Sans JP" pitchFamily="34" charset="-122"/>
                <a:cs typeface="Noto Sans JP" pitchFamily="34" charset="-120"/>
              </a:rPr>
              <a:t>設問: 節約意識が強い分野について、具体的な節約のしかたや工夫をお教えください。</a:t>
            </a:r>
            <a:endParaRPr lang="en-US" sz="1000" dirty="0"/>
          </a:p>
        </p:txBody>
      </p:sp>
      <p:pic>
        <p:nvPicPr>
          <p:cNvPr id="6" name="Image 0" descr="preencoded.png">    </p:cNvPr>
          <p:cNvPicPr>
            <a:picLocks noChangeAspect="1"/>
          </p:cNvPicPr>
          <p:nvPr/>
        </p:nvPicPr>
        <p:blipFill>
          <a:blip r:embed="rId1"/>
          <a:srcRect l="0" r="0" t="-2" b="-2"/>
          <a:stretch/>
        </p:blipFill>
        <p:spPr>
          <a:xfrm>
            <a:off x="571500" y="1362456"/>
            <a:ext cx="3172054" cy="2667305"/>
          </a:xfrm>
          <a:prstGeom prst="rect">
            <a:avLst/>
          </a:prstGeom>
        </p:spPr>
      </p:pic>
      <p:sp>
        <p:nvSpPr>
          <p:cNvPr id="7" name="Text 4"/>
          <p:cNvSpPr txBox="1"/>
          <p:nvPr/>
        </p:nvSpPr>
        <p:spPr>
          <a:xfrm>
            <a:off x="571500" y="4123944"/>
            <a:ext cx="1010412" cy="162763"/>
          </a:xfrm>
          <a:prstGeom prst="rect">
            <a:avLst/>
          </a:prstGeom>
          <a:noFill/>
          <a:ln/>
        </p:spPr>
        <p:txBody>
          <a:bodyPr wrap="square" lIns="0" tIns="0" rIns="0" bIns="0" rtlCol="0" anchor="ctr"/>
          <a:lstStyle/>
          <a:p>
            <a:pPr algn="l" indent="0" marL="0">
              <a:buNone/>
            </a:pPr>
            <a:r>
              <a:rPr lang="en-US" sz="900" dirty="0">
                <a:solidFill>
                  <a:srgbClr val="718096"/>
                </a:solidFill>
                <a:latin typeface="Noto Sans JP" pitchFamily="34" charset="0"/>
                <a:ea typeface="Noto Sans JP" pitchFamily="34" charset="-122"/>
                <a:cs typeface="Noto Sans JP" pitchFamily="34" charset="-120"/>
              </a:rPr>
              <a:t>総回答数: 4,356件</a:t>
            </a:r>
            <a:endParaRPr lang="en-US" sz="900" dirty="0"/>
          </a:p>
        </p:txBody>
      </p:sp>
      <p:sp>
        <p:nvSpPr>
          <p:cNvPr id="8" name="Shape 5"/>
          <p:cNvSpPr/>
          <p:nvPr/>
        </p:nvSpPr>
        <p:spPr>
          <a:xfrm>
            <a:off x="4028846" y="1124712"/>
            <a:ext cx="7591349" cy="9144"/>
          </a:xfrm>
          <a:prstGeom prst="rect">
            <a:avLst/>
          </a:prstGeom>
          <a:solidFill>
            <a:srgbClr val="CBD5E0"/>
          </a:solidFill>
          <a:ln/>
        </p:spPr>
      </p:sp>
      <p:sp>
        <p:nvSpPr>
          <p:cNvPr id="9" name="Text 6"/>
          <p:cNvSpPr txBox="1"/>
          <p:nvPr/>
        </p:nvSpPr>
        <p:spPr>
          <a:xfrm>
            <a:off x="4028846" y="886054"/>
            <a:ext cx="1605686" cy="191110"/>
          </a:xfrm>
          <a:prstGeom prst="rect">
            <a:avLst/>
          </a:prstGeom>
          <a:noFill/>
          <a:ln/>
        </p:spPr>
        <p:txBody>
          <a:bodyPr wrap="square" lIns="0" tIns="0" rIns="0" bIns="0" rtlCol="0" anchor="ctr"/>
          <a:lstStyle/>
          <a:p>
            <a:pPr algn="l" indent="0" marL="0">
              <a:buNone/>
            </a:pPr>
            <a:r>
              <a:rPr lang="en-US" sz="1000" b="1" dirty="0">
                <a:solidFill>
                  <a:srgbClr val="2C5282"/>
                </a:solidFill>
                <a:latin typeface="Noto Sans JP" pitchFamily="34" charset="0"/>
                <a:ea typeface="Noto Sans JP" pitchFamily="34" charset="-122"/>
                <a:cs typeface="Noto Sans JP" pitchFamily="34" charset="-120"/>
              </a:rPr>
              <a:t>主要テーマ別 代表的回答</a:t>
            </a:r>
            <a:endParaRPr lang="en-US" sz="1000" dirty="0"/>
          </a:p>
        </p:txBody>
      </p:sp>
      <p:sp>
        <p:nvSpPr>
          <p:cNvPr id="10" name="Text 7"/>
          <p:cNvSpPr txBox="1"/>
          <p:nvPr/>
        </p:nvSpPr>
        <p:spPr>
          <a:xfrm>
            <a:off x="4028846" y="1228954"/>
            <a:ext cx="1531620" cy="191110"/>
          </a:xfrm>
          <a:prstGeom prst="rect">
            <a:avLst/>
          </a:prstGeom>
          <a:noFill/>
          <a:ln/>
        </p:spPr>
        <p:txBody>
          <a:bodyPr wrap="square" lIns="0" tIns="0" rIns="0" bIns="0" rtlCol="0" anchor="ctr"/>
          <a:lstStyle/>
          <a:p>
            <a:pPr algn="l" indent="0" marL="0">
              <a:buNone/>
            </a:pPr>
            <a:r>
              <a:rPr lang="en-US" sz="900" b="1" dirty="0">
                <a:solidFill>
                  <a:srgbClr val="2C5282"/>
                </a:solidFill>
                <a:latin typeface="Noto Sans JP" pitchFamily="34" charset="0"/>
                <a:ea typeface="Noto Sans JP" pitchFamily="34" charset="-122"/>
                <a:cs typeface="Noto Sans JP" pitchFamily="34" charset="-120"/>
              </a:rPr>
              <a:t>1無駄遣いの排除 (25.1%)</a:t>
            </a:r>
            <a:endParaRPr lang="en-US" sz="900" dirty="0"/>
          </a:p>
        </p:txBody>
      </p:sp>
      <p:sp>
        <p:nvSpPr>
          <p:cNvPr id="11" name="Text 8"/>
          <p:cNvSpPr txBox="1"/>
          <p:nvPr/>
        </p:nvSpPr>
        <p:spPr>
          <a:xfrm>
            <a:off x="4028846" y="2606954"/>
            <a:ext cx="1408176" cy="191110"/>
          </a:xfrm>
          <a:prstGeom prst="rect">
            <a:avLst/>
          </a:prstGeom>
          <a:noFill/>
          <a:ln/>
        </p:spPr>
        <p:txBody>
          <a:bodyPr wrap="square" lIns="0" tIns="0" rIns="0" bIns="0" rtlCol="0" anchor="ctr"/>
          <a:lstStyle/>
          <a:p>
            <a:pPr algn="l" indent="0" marL="0">
              <a:buNone/>
            </a:pPr>
            <a:r>
              <a:rPr lang="en-US" sz="900" b="1" dirty="0">
                <a:solidFill>
                  <a:srgbClr val="2C5282"/>
                </a:solidFill>
                <a:latin typeface="Noto Sans JP" pitchFamily="34" charset="0"/>
                <a:ea typeface="Noto Sans JP" pitchFamily="34" charset="-122"/>
                <a:cs typeface="Noto Sans JP" pitchFamily="34" charset="-120"/>
              </a:rPr>
              <a:t>2光熱費の削減 (18.1%)</a:t>
            </a:r>
            <a:endParaRPr lang="en-US" sz="900" dirty="0"/>
          </a:p>
        </p:txBody>
      </p:sp>
      <p:sp>
        <p:nvSpPr>
          <p:cNvPr id="12" name="Text 9"/>
          <p:cNvSpPr txBox="1"/>
          <p:nvPr/>
        </p:nvSpPr>
        <p:spPr>
          <a:xfrm>
            <a:off x="4028846" y="4121201"/>
            <a:ext cx="1283818" cy="191110"/>
          </a:xfrm>
          <a:prstGeom prst="rect">
            <a:avLst/>
          </a:prstGeom>
          <a:noFill/>
          <a:ln/>
        </p:spPr>
        <p:txBody>
          <a:bodyPr wrap="square" lIns="0" tIns="0" rIns="0" bIns="0" rtlCol="0" anchor="ctr"/>
          <a:lstStyle/>
          <a:p>
            <a:pPr algn="l" indent="0" marL="0">
              <a:buNone/>
            </a:pPr>
            <a:r>
              <a:rPr lang="en-US" sz="900" b="1" dirty="0">
                <a:solidFill>
                  <a:srgbClr val="2C5282"/>
                </a:solidFill>
                <a:latin typeface="Noto Sans JP" pitchFamily="34" charset="0"/>
                <a:ea typeface="Noto Sans JP" pitchFamily="34" charset="-122"/>
                <a:cs typeface="Noto Sans JP" pitchFamily="34" charset="-120"/>
              </a:rPr>
              <a:t>3食費の節約 (12.9%)</a:t>
            </a:r>
            <a:endParaRPr lang="en-US" sz="900" dirty="0"/>
          </a:p>
        </p:txBody>
      </p:sp>
      <p:sp>
        <p:nvSpPr>
          <p:cNvPr id="13" name="Shape 10"/>
          <p:cNvSpPr/>
          <p:nvPr/>
        </p:nvSpPr>
        <p:spPr>
          <a:xfrm>
            <a:off x="4028846" y="1462126"/>
            <a:ext cx="3705149" cy="504749"/>
          </a:xfrm>
          <a:prstGeom prst="rect">
            <a:avLst/>
          </a:prstGeom>
          <a:solidFill>
            <a:srgbClr val="F7FAFC"/>
          </a:solidFill>
          <a:ln/>
        </p:spPr>
      </p:sp>
      <p:sp>
        <p:nvSpPr>
          <p:cNvPr id="14" name="Shape 11"/>
          <p:cNvSpPr/>
          <p:nvPr/>
        </p:nvSpPr>
        <p:spPr>
          <a:xfrm>
            <a:off x="4028846" y="1462126"/>
            <a:ext cx="28346" cy="504749"/>
          </a:xfrm>
          <a:prstGeom prst="rect">
            <a:avLst/>
          </a:prstGeom>
          <a:solidFill>
            <a:srgbClr val="3182CE"/>
          </a:solidFill>
          <a:ln/>
        </p:spPr>
      </p:sp>
      <p:sp>
        <p:nvSpPr>
          <p:cNvPr id="15" name="Shape 12"/>
          <p:cNvSpPr/>
          <p:nvPr/>
        </p:nvSpPr>
        <p:spPr>
          <a:xfrm>
            <a:off x="4028846" y="2010766"/>
            <a:ext cx="3705149" cy="504749"/>
          </a:xfrm>
          <a:prstGeom prst="rect">
            <a:avLst/>
          </a:prstGeom>
          <a:solidFill>
            <a:srgbClr val="F7FAFC"/>
          </a:solidFill>
          <a:ln/>
        </p:spPr>
      </p:sp>
      <p:sp>
        <p:nvSpPr>
          <p:cNvPr id="16" name="Shape 13"/>
          <p:cNvSpPr/>
          <p:nvPr/>
        </p:nvSpPr>
        <p:spPr>
          <a:xfrm>
            <a:off x="4028846" y="2010766"/>
            <a:ext cx="28346" cy="504749"/>
          </a:xfrm>
          <a:prstGeom prst="rect">
            <a:avLst/>
          </a:prstGeom>
          <a:solidFill>
            <a:srgbClr val="3182CE"/>
          </a:solidFill>
          <a:ln/>
        </p:spPr>
      </p:sp>
      <p:sp>
        <p:nvSpPr>
          <p:cNvPr id="17" name="Shape 14"/>
          <p:cNvSpPr/>
          <p:nvPr/>
        </p:nvSpPr>
        <p:spPr>
          <a:xfrm>
            <a:off x="4028846" y="2840126"/>
            <a:ext cx="3705149" cy="638251"/>
          </a:xfrm>
          <a:prstGeom prst="rect">
            <a:avLst/>
          </a:prstGeom>
          <a:solidFill>
            <a:srgbClr val="F7FAFC"/>
          </a:solidFill>
          <a:ln/>
        </p:spPr>
      </p:sp>
      <p:sp>
        <p:nvSpPr>
          <p:cNvPr id="18" name="Shape 15"/>
          <p:cNvSpPr/>
          <p:nvPr/>
        </p:nvSpPr>
        <p:spPr>
          <a:xfrm>
            <a:off x="4028846" y="2840126"/>
            <a:ext cx="28346" cy="638251"/>
          </a:xfrm>
          <a:prstGeom prst="rect">
            <a:avLst/>
          </a:prstGeom>
          <a:solidFill>
            <a:srgbClr val="3182CE"/>
          </a:solidFill>
          <a:ln/>
        </p:spPr>
      </p:sp>
      <p:sp>
        <p:nvSpPr>
          <p:cNvPr id="19" name="Shape 16"/>
          <p:cNvSpPr/>
          <p:nvPr/>
        </p:nvSpPr>
        <p:spPr>
          <a:xfrm>
            <a:off x="4028846" y="3525012"/>
            <a:ext cx="3705149" cy="504749"/>
          </a:xfrm>
          <a:prstGeom prst="rect">
            <a:avLst/>
          </a:prstGeom>
          <a:solidFill>
            <a:srgbClr val="F7FAFC"/>
          </a:solidFill>
          <a:ln/>
        </p:spPr>
      </p:sp>
      <p:sp>
        <p:nvSpPr>
          <p:cNvPr id="20" name="Shape 17"/>
          <p:cNvSpPr/>
          <p:nvPr/>
        </p:nvSpPr>
        <p:spPr>
          <a:xfrm>
            <a:off x="4028846" y="3525012"/>
            <a:ext cx="28346" cy="504749"/>
          </a:xfrm>
          <a:prstGeom prst="rect">
            <a:avLst/>
          </a:prstGeom>
          <a:solidFill>
            <a:srgbClr val="3182CE"/>
          </a:solidFill>
          <a:ln/>
        </p:spPr>
      </p:sp>
      <p:sp>
        <p:nvSpPr>
          <p:cNvPr id="21" name="Shape 18"/>
          <p:cNvSpPr/>
          <p:nvPr/>
        </p:nvSpPr>
        <p:spPr>
          <a:xfrm>
            <a:off x="4028846" y="4354373"/>
            <a:ext cx="3705149" cy="504749"/>
          </a:xfrm>
          <a:prstGeom prst="rect">
            <a:avLst/>
          </a:prstGeom>
          <a:solidFill>
            <a:srgbClr val="F7FAFC"/>
          </a:solidFill>
          <a:ln/>
        </p:spPr>
      </p:sp>
      <p:sp>
        <p:nvSpPr>
          <p:cNvPr id="22" name="Shape 19"/>
          <p:cNvSpPr/>
          <p:nvPr/>
        </p:nvSpPr>
        <p:spPr>
          <a:xfrm>
            <a:off x="4028846" y="4354373"/>
            <a:ext cx="28346" cy="504749"/>
          </a:xfrm>
          <a:prstGeom prst="rect">
            <a:avLst/>
          </a:prstGeom>
          <a:solidFill>
            <a:srgbClr val="3182CE"/>
          </a:solidFill>
          <a:ln/>
        </p:spPr>
      </p:sp>
      <p:sp>
        <p:nvSpPr>
          <p:cNvPr id="23" name="Shape 20"/>
          <p:cNvSpPr/>
          <p:nvPr/>
        </p:nvSpPr>
        <p:spPr>
          <a:xfrm>
            <a:off x="4028846" y="4903013"/>
            <a:ext cx="3705149" cy="638251"/>
          </a:xfrm>
          <a:prstGeom prst="rect">
            <a:avLst/>
          </a:prstGeom>
          <a:solidFill>
            <a:srgbClr val="F7FAFC"/>
          </a:solidFill>
          <a:ln/>
        </p:spPr>
      </p:sp>
      <p:sp>
        <p:nvSpPr>
          <p:cNvPr id="24" name="Shape 21"/>
          <p:cNvSpPr/>
          <p:nvPr/>
        </p:nvSpPr>
        <p:spPr>
          <a:xfrm>
            <a:off x="4028846" y="4903013"/>
            <a:ext cx="28346" cy="638251"/>
          </a:xfrm>
          <a:prstGeom prst="rect">
            <a:avLst/>
          </a:prstGeom>
          <a:solidFill>
            <a:srgbClr val="3182CE"/>
          </a:solidFill>
          <a:ln/>
        </p:spPr>
      </p:sp>
      <p:sp>
        <p:nvSpPr>
          <p:cNvPr id="25" name="Text 22"/>
          <p:cNvSpPr txBox="1"/>
          <p:nvPr/>
        </p:nvSpPr>
        <p:spPr>
          <a:xfrm>
            <a:off x="4134002" y="1500530"/>
            <a:ext cx="3526841" cy="295351"/>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「美容院の利用をやめて、カットモデルなど無料で施術してもらえるところを探す。または自分でカットする。」</a:t>
            </a:r>
            <a:endParaRPr lang="en-US" sz="800" dirty="0"/>
          </a:p>
        </p:txBody>
      </p:sp>
      <p:sp>
        <p:nvSpPr>
          <p:cNvPr id="26" name="Text 23"/>
          <p:cNvSpPr txBox="1"/>
          <p:nvPr/>
        </p:nvSpPr>
        <p:spPr>
          <a:xfrm>
            <a:off x="4134002" y="2049170"/>
            <a:ext cx="3536899" cy="295351"/>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「家内はヘアサロンでの白髪染めをやめて市販品を買って自分でする様になりました。また飲み会も参加を少し減らす様にもなりました。」</a:t>
            </a:r>
            <a:endParaRPr lang="en-US" sz="800" dirty="0"/>
          </a:p>
        </p:txBody>
      </p:sp>
      <p:sp>
        <p:nvSpPr>
          <p:cNvPr id="27" name="Text 24"/>
          <p:cNvSpPr txBox="1"/>
          <p:nvPr/>
        </p:nvSpPr>
        <p:spPr>
          <a:xfrm>
            <a:off x="4134002" y="2878531"/>
            <a:ext cx="3536899" cy="428854"/>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「できるだけ光熱費を浮かすため、お風呂をシャワーにしたり、食器など洗うのもまとめ洗いにしている。また、毛布などを使いできるだけエアコンを使うのを抑えている。」</a:t>
            </a:r>
            <a:endParaRPr lang="en-US" sz="800" dirty="0"/>
          </a:p>
        </p:txBody>
      </p:sp>
      <p:sp>
        <p:nvSpPr>
          <p:cNvPr id="28" name="Text 25"/>
          <p:cNvSpPr txBox="1"/>
          <p:nvPr/>
        </p:nvSpPr>
        <p:spPr>
          <a:xfrm>
            <a:off x="4134002" y="3563417"/>
            <a:ext cx="3536899" cy="295351"/>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「エアコンの設定温度の調節やオフ。できるだけ安い食料品や日用品を遠くまで買いにいく。買いだめする。」</a:t>
            </a:r>
            <a:endParaRPr lang="en-US" sz="800" dirty="0"/>
          </a:p>
        </p:txBody>
      </p:sp>
      <p:sp>
        <p:nvSpPr>
          <p:cNvPr id="29" name="Text 26"/>
          <p:cNvSpPr txBox="1"/>
          <p:nvPr/>
        </p:nvSpPr>
        <p:spPr>
          <a:xfrm>
            <a:off x="4134002" y="4392778"/>
            <a:ext cx="3536899" cy="295351"/>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「食料品は値引きシールが張られたものを購入する。まとめ買いをする。衝動買いをしない。光熱費は冷暖房の温度を最低限の温度にする。」</a:t>
            </a:r>
            <a:endParaRPr lang="en-US" sz="800" dirty="0"/>
          </a:p>
        </p:txBody>
      </p:sp>
      <p:sp>
        <p:nvSpPr>
          <p:cNvPr id="30" name="Text 27"/>
          <p:cNvSpPr txBox="1"/>
          <p:nvPr/>
        </p:nvSpPr>
        <p:spPr>
          <a:xfrm>
            <a:off x="4134002" y="4941418"/>
            <a:ext cx="3536899" cy="428854"/>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「食料品は、なるべく安いお店で買う。パンやおにぎり、お弁当、日ごろ使う野菜類、調味料などなど底値を大体どのお店でどれが安いかを記憶しておき、安い所で買う。」</a:t>
            </a:r>
            <a:endParaRPr lang="en-US" sz="800" dirty="0"/>
          </a:p>
        </p:txBody>
      </p:sp>
      <p:sp>
        <p:nvSpPr>
          <p:cNvPr id="31" name="Text 28"/>
          <p:cNvSpPr txBox="1"/>
          <p:nvPr/>
        </p:nvSpPr>
        <p:spPr>
          <a:xfrm>
            <a:off x="6676949" y="1782166"/>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ID:3717589、40代女性</a:t>
            </a:r>
            <a:endParaRPr lang="en-US" sz="800" dirty="0"/>
          </a:p>
        </p:txBody>
      </p:sp>
      <p:sp>
        <p:nvSpPr>
          <p:cNvPr id="32" name="Text 29"/>
          <p:cNvSpPr txBox="1"/>
          <p:nvPr/>
        </p:nvSpPr>
        <p:spPr>
          <a:xfrm>
            <a:off x="6676949" y="2330806"/>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ID:5100328、60代男性</a:t>
            </a:r>
            <a:endParaRPr lang="en-US" sz="800" dirty="0"/>
          </a:p>
        </p:txBody>
      </p:sp>
      <p:sp>
        <p:nvSpPr>
          <p:cNvPr id="33" name="Text 30"/>
          <p:cNvSpPr txBox="1"/>
          <p:nvPr/>
        </p:nvSpPr>
        <p:spPr>
          <a:xfrm>
            <a:off x="6676949" y="3296412"/>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ID:3567453、40代女性</a:t>
            </a:r>
            <a:endParaRPr lang="en-US" sz="800" dirty="0"/>
          </a:p>
        </p:txBody>
      </p:sp>
      <p:sp>
        <p:nvSpPr>
          <p:cNvPr id="34" name="Text 31"/>
          <p:cNvSpPr txBox="1"/>
          <p:nvPr/>
        </p:nvSpPr>
        <p:spPr>
          <a:xfrm>
            <a:off x="6676949" y="3845052"/>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ID:3539002、50代男性</a:t>
            </a:r>
            <a:endParaRPr lang="en-US" sz="800" dirty="0"/>
          </a:p>
        </p:txBody>
      </p:sp>
      <p:sp>
        <p:nvSpPr>
          <p:cNvPr id="35" name="Text 32"/>
          <p:cNvSpPr txBox="1"/>
          <p:nvPr/>
        </p:nvSpPr>
        <p:spPr>
          <a:xfrm>
            <a:off x="6676949" y="4674413"/>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ID:3630080、50代男性</a:t>
            </a:r>
            <a:endParaRPr lang="en-US" sz="800" dirty="0"/>
          </a:p>
        </p:txBody>
      </p:sp>
      <p:sp>
        <p:nvSpPr>
          <p:cNvPr id="36" name="Text 33"/>
          <p:cNvSpPr txBox="1"/>
          <p:nvPr/>
        </p:nvSpPr>
        <p:spPr>
          <a:xfrm>
            <a:off x="6676949" y="5359298"/>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ID:2298847、40代男性</a:t>
            </a:r>
            <a:endParaRPr lang="en-US" sz="800" dirty="0"/>
          </a:p>
        </p:txBody>
      </p:sp>
      <p:sp>
        <p:nvSpPr>
          <p:cNvPr id="37" name="Text 34"/>
          <p:cNvSpPr txBox="1"/>
          <p:nvPr/>
        </p:nvSpPr>
        <p:spPr>
          <a:xfrm>
            <a:off x="7919618" y="1228954"/>
            <a:ext cx="1283818" cy="191110"/>
          </a:xfrm>
          <a:prstGeom prst="rect">
            <a:avLst/>
          </a:prstGeom>
          <a:noFill/>
          <a:ln/>
        </p:spPr>
        <p:txBody>
          <a:bodyPr wrap="square" lIns="0" tIns="0" rIns="0" bIns="0" rtlCol="0" anchor="ctr"/>
          <a:lstStyle/>
          <a:p>
            <a:pPr algn="l" indent="0" marL="0">
              <a:buNone/>
            </a:pPr>
            <a:r>
              <a:rPr lang="en-US" sz="900" b="1" dirty="0">
                <a:solidFill>
                  <a:srgbClr val="2C5282"/>
                </a:solidFill>
                <a:latin typeface="Noto Sans JP" pitchFamily="34" charset="0"/>
                <a:ea typeface="Noto Sans JP" pitchFamily="34" charset="-122"/>
                <a:cs typeface="Noto Sans JP" pitchFamily="34" charset="-120"/>
              </a:rPr>
              <a:t>4外食の控え (11.7%)</a:t>
            </a:r>
            <a:endParaRPr lang="en-US" sz="900" dirty="0"/>
          </a:p>
        </p:txBody>
      </p:sp>
      <p:sp>
        <p:nvSpPr>
          <p:cNvPr id="38" name="Text 35"/>
          <p:cNvSpPr txBox="1"/>
          <p:nvPr/>
        </p:nvSpPr>
        <p:spPr>
          <a:xfrm>
            <a:off x="7919618" y="2470709"/>
            <a:ext cx="1531620" cy="191110"/>
          </a:xfrm>
          <a:prstGeom prst="rect">
            <a:avLst/>
          </a:prstGeom>
          <a:noFill/>
          <a:ln/>
        </p:spPr>
        <p:txBody>
          <a:bodyPr wrap="square" lIns="0" tIns="0" rIns="0" bIns="0" rtlCol="0" anchor="ctr"/>
          <a:lstStyle/>
          <a:p>
            <a:pPr algn="l" indent="0" marL="0">
              <a:buNone/>
            </a:pPr>
            <a:r>
              <a:rPr lang="en-US" sz="900" b="1" dirty="0">
                <a:solidFill>
                  <a:srgbClr val="2C5282"/>
                </a:solidFill>
                <a:latin typeface="Noto Sans JP" pitchFamily="34" charset="0"/>
                <a:ea typeface="Noto Sans JP" pitchFamily="34" charset="-122"/>
                <a:cs typeface="Noto Sans JP" pitchFamily="34" charset="-120"/>
              </a:rPr>
              <a:t>5衣類の購入抑制 (10.2%)</a:t>
            </a:r>
            <a:endParaRPr lang="en-US" sz="900" dirty="0"/>
          </a:p>
        </p:txBody>
      </p:sp>
      <p:sp>
        <p:nvSpPr>
          <p:cNvPr id="39" name="Shape 36"/>
          <p:cNvSpPr/>
          <p:nvPr/>
        </p:nvSpPr>
        <p:spPr>
          <a:xfrm>
            <a:off x="7919618" y="1462126"/>
            <a:ext cx="3705149" cy="371246"/>
          </a:xfrm>
          <a:prstGeom prst="rect">
            <a:avLst/>
          </a:prstGeom>
          <a:solidFill>
            <a:srgbClr val="F7FAFC"/>
          </a:solidFill>
          <a:ln/>
        </p:spPr>
      </p:sp>
      <p:sp>
        <p:nvSpPr>
          <p:cNvPr id="40" name="Shape 37"/>
          <p:cNvSpPr/>
          <p:nvPr/>
        </p:nvSpPr>
        <p:spPr>
          <a:xfrm>
            <a:off x="7919618" y="1462126"/>
            <a:ext cx="28346" cy="371246"/>
          </a:xfrm>
          <a:prstGeom prst="rect">
            <a:avLst/>
          </a:prstGeom>
          <a:solidFill>
            <a:srgbClr val="3182CE"/>
          </a:solidFill>
          <a:ln/>
        </p:spPr>
      </p:sp>
      <p:sp>
        <p:nvSpPr>
          <p:cNvPr id="41" name="Shape 38"/>
          <p:cNvSpPr/>
          <p:nvPr/>
        </p:nvSpPr>
        <p:spPr>
          <a:xfrm>
            <a:off x="7919618" y="1874520"/>
            <a:ext cx="3705149" cy="504749"/>
          </a:xfrm>
          <a:prstGeom prst="rect">
            <a:avLst/>
          </a:prstGeom>
          <a:solidFill>
            <a:srgbClr val="F7FAFC"/>
          </a:solidFill>
          <a:ln/>
        </p:spPr>
      </p:sp>
      <p:sp>
        <p:nvSpPr>
          <p:cNvPr id="42" name="Shape 39"/>
          <p:cNvSpPr/>
          <p:nvPr/>
        </p:nvSpPr>
        <p:spPr>
          <a:xfrm>
            <a:off x="7919618" y="1874520"/>
            <a:ext cx="28346" cy="504749"/>
          </a:xfrm>
          <a:prstGeom prst="rect">
            <a:avLst/>
          </a:prstGeom>
          <a:solidFill>
            <a:srgbClr val="3182CE"/>
          </a:solidFill>
          <a:ln/>
        </p:spPr>
      </p:sp>
      <p:sp>
        <p:nvSpPr>
          <p:cNvPr id="43" name="Shape 40"/>
          <p:cNvSpPr/>
          <p:nvPr/>
        </p:nvSpPr>
        <p:spPr>
          <a:xfrm>
            <a:off x="7919618" y="2703881"/>
            <a:ext cx="3705149" cy="638251"/>
          </a:xfrm>
          <a:prstGeom prst="rect">
            <a:avLst/>
          </a:prstGeom>
          <a:solidFill>
            <a:srgbClr val="F7FAFC"/>
          </a:solidFill>
          <a:ln/>
        </p:spPr>
      </p:sp>
      <p:sp>
        <p:nvSpPr>
          <p:cNvPr id="44" name="Shape 41"/>
          <p:cNvSpPr/>
          <p:nvPr/>
        </p:nvSpPr>
        <p:spPr>
          <a:xfrm>
            <a:off x="7919618" y="2703881"/>
            <a:ext cx="28346" cy="638251"/>
          </a:xfrm>
          <a:prstGeom prst="rect">
            <a:avLst/>
          </a:prstGeom>
          <a:solidFill>
            <a:srgbClr val="3182CE"/>
          </a:solidFill>
          <a:ln/>
        </p:spPr>
      </p:sp>
      <p:sp>
        <p:nvSpPr>
          <p:cNvPr id="45" name="Shape 42"/>
          <p:cNvSpPr/>
          <p:nvPr/>
        </p:nvSpPr>
        <p:spPr>
          <a:xfrm>
            <a:off x="7919618" y="3388766"/>
            <a:ext cx="3705149" cy="504749"/>
          </a:xfrm>
          <a:prstGeom prst="rect">
            <a:avLst/>
          </a:prstGeom>
          <a:solidFill>
            <a:srgbClr val="F7FAFC"/>
          </a:solidFill>
          <a:ln/>
        </p:spPr>
      </p:sp>
      <p:sp>
        <p:nvSpPr>
          <p:cNvPr id="46" name="Shape 43"/>
          <p:cNvSpPr/>
          <p:nvPr/>
        </p:nvSpPr>
        <p:spPr>
          <a:xfrm>
            <a:off x="7919618" y="3388766"/>
            <a:ext cx="28346" cy="504749"/>
          </a:xfrm>
          <a:prstGeom prst="rect">
            <a:avLst/>
          </a:prstGeom>
          <a:solidFill>
            <a:srgbClr val="3182CE"/>
          </a:solidFill>
          <a:ln/>
        </p:spPr>
      </p:sp>
      <p:sp>
        <p:nvSpPr>
          <p:cNvPr id="47" name="Text 44"/>
          <p:cNvSpPr txBox="1"/>
          <p:nvPr/>
        </p:nvSpPr>
        <p:spPr>
          <a:xfrm>
            <a:off x="8024774" y="1500530"/>
            <a:ext cx="2907792" cy="152705"/>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「外食は特別な時として基本家で作ることを心がけている」</a:t>
            </a:r>
            <a:endParaRPr lang="en-US" sz="800" dirty="0"/>
          </a:p>
        </p:txBody>
      </p:sp>
      <p:sp>
        <p:nvSpPr>
          <p:cNvPr id="48" name="Text 45"/>
          <p:cNvSpPr txBox="1"/>
          <p:nvPr/>
        </p:nvSpPr>
        <p:spPr>
          <a:xfrm>
            <a:off x="8024774" y="1912925"/>
            <a:ext cx="3546043" cy="295351"/>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「外食を控え、代わりに持ち帰りにする。持ち帰りも例えば弁当ならホカ弁は高いのでスーパーの弁当にする。」</a:t>
            </a:r>
            <a:endParaRPr lang="en-US" sz="800" dirty="0"/>
          </a:p>
        </p:txBody>
      </p:sp>
      <p:sp>
        <p:nvSpPr>
          <p:cNvPr id="49" name="Text 46"/>
          <p:cNvSpPr txBox="1"/>
          <p:nvPr/>
        </p:nvSpPr>
        <p:spPr>
          <a:xfrm>
            <a:off x="8024774" y="2742286"/>
            <a:ext cx="3536899" cy="428854"/>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「洋服はシーズン毎に購入していたが、外出の機会も減ったので必要な時に必要なものしか買わなくなった。今ある服をもっと減らしていきたいと考えている。」</a:t>
            </a:r>
            <a:endParaRPr lang="en-US" sz="800" dirty="0"/>
          </a:p>
        </p:txBody>
      </p:sp>
      <p:sp>
        <p:nvSpPr>
          <p:cNvPr id="50" name="Text 47"/>
          <p:cNvSpPr txBox="1"/>
          <p:nvPr/>
        </p:nvSpPr>
        <p:spPr>
          <a:xfrm>
            <a:off x="8024774" y="3427171"/>
            <a:ext cx="3517697" cy="295351"/>
          </a:xfrm>
          <a:prstGeom prst="rect">
            <a:avLst/>
          </a:prstGeom>
          <a:noFill/>
          <a:ln/>
        </p:spPr>
        <p:txBody>
          <a:bodyPr wrap="square" lIns="0" tIns="0" rIns="0" bIns="0" rtlCol="0" anchor="ctr"/>
          <a:lstStyle/>
          <a:p>
            <a:pPr algn="l" indent="0" marL="0">
              <a:buNone/>
            </a:pPr>
            <a:r>
              <a:rPr lang="en-US" sz="800" dirty="0">
                <a:solidFill>
                  <a:srgbClr val="4A5568"/>
                </a:solidFill>
                <a:latin typeface="Noto Sans JP" pitchFamily="34" charset="0"/>
                <a:ea typeface="Noto Sans JP" pitchFamily="34" charset="-122"/>
                <a:cs typeface="Noto Sans JP" pitchFamily="34" charset="-120"/>
              </a:rPr>
              <a:t>「衣類はまず買いません。何年も着ています。たまにリサイクルやフリマで手に入れてます。」</a:t>
            </a:r>
            <a:endParaRPr lang="en-US" sz="800" dirty="0"/>
          </a:p>
        </p:txBody>
      </p:sp>
      <p:sp>
        <p:nvSpPr>
          <p:cNvPr id="51" name="Text 48"/>
          <p:cNvSpPr txBox="1"/>
          <p:nvPr/>
        </p:nvSpPr>
        <p:spPr>
          <a:xfrm>
            <a:off x="10567721" y="1645920"/>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ID:3265401、40代女性</a:t>
            </a:r>
            <a:endParaRPr lang="en-US" sz="800" dirty="0"/>
          </a:p>
        </p:txBody>
      </p:sp>
      <p:sp>
        <p:nvSpPr>
          <p:cNvPr id="52" name="Text 49"/>
          <p:cNvSpPr txBox="1"/>
          <p:nvPr/>
        </p:nvSpPr>
        <p:spPr>
          <a:xfrm>
            <a:off x="10567721" y="2194560"/>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ID:3961204、60代女性</a:t>
            </a:r>
            <a:endParaRPr lang="en-US" sz="800" dirty="0"/>
          </a:p>
        </p:txBody>
      </p:sp>
      <p:sp>
        <p:nvSpPr>
          <p:cNvPr id="53" name="Text 50"/>
          <p:cNvSpPr txBox="1"/>
          <p:nvPr/>
        </p:nvSpPr>
        <p:spPr>
          <a:xfrm>
            <a:off x="10620756" y="3160166"/>
            <a:ext cx="1000354"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ID:527390、60代女性</a:t>
            </a:r>
            <a:endParaRPr lang="en-US" sz="800" dirty="0"/>
          </a:p>
        </p:txBody>
      </p:sp>
      <p:sp>
        <p:nvSpPr>
          <p:cNvPr id="54" name="Text 51"/>
          <p:cNvSpPr txBox="1"/>
          <p:nvPr/>
        </p:nvSpPr>
        <p:spPr>
          <a:xfrm>
            <a:off x="10567721" y="3708806"/>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ID:1724939、50代女性</a:t>
            </a:r>
            <a:endParaRPr lang="en-US" sz="800" dirty="0"/>
          </a:p>
        </p:txBody>
      </p:sp>
      <p:sp>
        <p:nvSpPr>
          <p:cNvPr id="55" name="Shape 52"/>
          <p:cNvSpPr/>
          <p:nvPr/>
        </p:nvSpPr>
        <p:spPr>
          <a:xfrm>
            <a:off x="10287914" y="237744"/>
            <a:ext cx="1666951" cy="286207"/>
          </a:xfrm>
          <a:prstGeom prst="roundRect">
            <a:avLst>
              <a:gd name="adj" fmla="val 42599"/>
            </a:avLst>
          </a:prstGeom>
          <a:solidFill>
            <a:srgbClr val="3182CE"/>
          </a:solidFill>
          <a:ln/>
        </p:spPr>
      </p:sp>
      <p:sp>
        <p:nvSpPr>
          <p:cNvPr id="56" name="Text 53"/>
          <p:cNvSpPr txBox="1"/>
          <p:nvPr/>
        </p:nvSpPr>
        <p:spPr>
          <a:xfrm>
            <a:off x="10431475" y="286207"/>
            <a:ext cx="1474013" cy="181051"/>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テーマ1: 家計の支出変化</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2371954" cy="438912"/>
          </a:xfrm>
          <a:prstGeom prst="rect">
            <a:avLst/>
          </a:prstGeom>
          <a:noFill/>
          <a:ln/>
        </p:spPr>
        <p:txBody>
          <a:bodyPr wrap="square" lIns="0" tIns="0" rIns="0" bIns="0" rtlCol="0" anchor="ctr"/>
          <a:lstStyle/>
          <a:p>
            <a:pPr algn="l" indent="0" marL="0">
              <a:buNone/>
            </a:pPr>
            <a:r>
              <a:rPr lang="en-US" sz="2400" b="1" dirty="0">
                <a:solidFill>
                  <a:srgbClr val="1A365D"/>
                </a:solidFill>
                <a:latin typeface="Noto Sans JP" pitchFamily="34" charset="0"/>
                <a:ea typeface="Noto Sans JP" pitchFamily="34" charset="-122"/>
                <a:cs typeface="Noto Sans JP" pitchFamily="34" charset="-120"/>
              </a:rPr>
              <a:t>洞察と推奨事項</a:t>
            </a:r>
            <a:endParaRPr lang="en-US" sz="2400" dirty="0"/>
          </a:p>
        </p:txBody>
      </p:sp>
      <p:sp>
        <p:nvSpPr>
          <p:cNvPr id="4" name="Shape 2"/>
          <p:cNvSpPr/>
          <p:nvPr/>
        </p:nvSpPr>
        <p:spPr>
          <a:xfrm>
            <a:off x="571500" y="761695"/>
            <a:ext cx="761695" cy="28346"/>
          </a:xfrm>
          <a:prstGeom prst="rect">
            <a:avLst/>
          </a:prstGeom>
          <a:solidFill>
            <a:srgbClr val="3182CE"/>
          </a:solidFill>
          <a:ln/>
        </p:spPr>
      </p:sp>
      <p:sp>
        <p:nvSpPr>
          <p:cNvPr id="5" name="Text 3"/>
          <p:cNvSpPr txBox="1"/>
          <p:nvPr/>
        </p:nvSpPr>
        <p:spPr>
          <a:xfrm>
            <a:off x="571500" y="942746"/>
            <a:ext cx="814730"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統合解釈</a:t>
            </a:r>
            <a:endParaRPr lang="en-US" sz="1300" dirty="0"/>
          </a:p>
        </p:txBody>
      </p:sp>
      <p:sp>
        <p:nvSpPr>
          <p:cNvPr id="6" name="Text 4"/>
          <p:cNvSpPr txBox="1"/>
          <p:nvPr/>
        </p:nvSpPr>
        <p:spPr>
          <a:xfrm>
            <a:off x="571500" y="1314907"/>
            <a:ext cx="5394046" cy="848563"/>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最近の調査データに基づくと、家計の支出変化は物価高や円安の影響を強く受けており、全体の59.9%が節約傾向を示しています。特に外食や衣類、食料品といった分野での節約意識が顕著であり、外食に関しては41.9%が支出見直しを行っています。</a:t>
            </a:r>
            <a:endParaRPr lang="en-US" sz="1100" dirty="0"/>
          </a:p>
        </p:txBody>
      </p:sp>
      <p:sp>
        <p:nvSpPr>
          <p:cNvPr id="7" name="Text 5"/>
          <p:cNvSpPr txBox="1"/>
          <p:nvPr/>
        </p:nvSpPr>
        <p:spPr>
          <a:xfrm>
            <a:off x="571500" y="2305202"/>
            <a:ext cx="5403190" cy="848563"/>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この傾向は、無駄遣いの排除(25.1%)や光熱費の削減といった具体的な行動にも表れており、家計の支出見直しが広がっています。特に物価の安定や円高が進む場合、消費者の支出態度がどのように変化するかが今後の市場動向を左右する重要な指標となるでしょう。</a:t>
            </a:r>
            <a:endParaRPr lang="en-US" sz="1100" dirty="0"/>
          </a:p>
        </p:txBody>
      </p:sp>
      <p:sp>
        <p:nvSpPr>
          <p:cNvPr id="8" name="Text 6"/>
          <p:cNvSpPr txBox="1"/>
          <p:nvPr/>
        </p:nvSpPr>
        <p:spPr>
          <a:xfrm>
            <a:off x="6324905" y="942746"/>
            <a:ext cx="1500530"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示唆・アクション</a:t>
            </a:r>
            <a:endParaRPr lang="en-US" sz="1300" dirty="0"/>
          </a:p>
        </p:txBody>
      </p:sp>
      <p:sp>
        <p:nvSpPr>
          <p:cNvPr id="9" name="Shape 7"/>
          <p:cNvSpPr/>
          <p:nvPr/>
        </p:nvSpPr>
        <p:spPr>
          <a:xfrm>
            <a:off x="6324905" y="1314907"/>
            <a:ext cx="5296205" cy="914400"/>
          </a:xfrm>
          <a:prstGeom prst="roundRect">
            <a:avLst>
              <a:gd name="adj" fmla="val 8333"/>
            </a:avLst>
          </a:prstGeom>
          <a:solidFill>
            <a:srgbClr val="FFFFFF"/>
          </a:solidFill>
          <a:ln/>
          <a:effectLst>
            <a:outerShdw sx="100000" sy="100000" kx="0" ky="0" algn="bl" rotWithShape="0" blurRad="25400" dist="12700" dir="5400000">
              <a:srgbClr val="000000">
                <a:alpha val="10000"/>
              </a:srgbClr>
            </a:outerShdw>
          </a:effectLst>
        </p:spPr>
      </p:sp>
      <p:sp>
        <p:nvSpPr>
          <p:cNvPr id="10" name="Shape 8"/>
          <p:cNvSpPr/>
          <p:nvPr/>
        </p:nvSpPr>
        <p:spPr>
          <a:xfrm>
            <a:off x="6324905" y="2342693"/>
            <a:ext cx="5296205" cy="914400"/>
          </a:xfrm>
          <a:prstGeom prst="roundRect">
            <a:avLst>
              <a:gd name="adj" fmla="val 8333"/>
            </a:avLst>
          </a:prstGeom>
          <a:solidFill>
            <a:srgbClr val="FFFFFF"/>
          </a:solidFill>
          <a:ln/>
          <a:effectLst>
            <a:outerShdw sx="100000" sy="100000" kx="0" ky="0" algn="bl" rotWithShape="0" blurRad="25400" dist="12700" dir="5400000">
              <a:srgbClr val="000000">
                <a:alpha val="10000"/>
              </a:srgbClr>
            </a:outerShdw>
          </a:effectLst>
        </p:spPr>
      </p:sp>
      <p:sp>
        <p:nvSpPr>
          <p:cNvPr id="11" name="Shape 9"/>
          <p:cNvSpPr/>
          <p:nvPr/>
        </p:nvSpPr>
        <p:spPr>
          <a:xfrm>
            <a:off x="6324905" y="3370478"/>
            <a:ext cx="5296205" cy="914400"/>
          </a:xfrm>
          <a:prstGeom prst="roundRect">
            <a:avLst>
              <a:gd name="adj" fmla="val 8333"/>
            </a:avLst>
          </a:prstGeom>
          <a:solidFill>
            <a:srgbClr val="FFFFFF"/>
          </a:solidFill>
          <a:ln/>
          <a:effectLst>
            <a:outerShdw sx="100000" sy="100000" kx="0" ky="0" algn="bl" rotWithShape="0" blurRad="25400" dist="12700" dir="5400000">
              <a:srgbClr val="000000">
                <a:alpha val="10000"/>
              </a:srgbClr>
            </a:outerShdw>
          </a:effectLst>
        </p:spPr>
      </p:sp>
      <p:sp>
        <p:nvSpPr>
          <p:cNvPr id="12" name="Text 10"/>
          <p:cNvSpPr txBox="1"/>
          <p:nvPr/>
        </p:nvSpPr>
        <p:spPr>
          <a:xfrm>
            <a:off x="6439205" y="1457554"/>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3" name="Text 11"/>
          <p:cNvSpPr txBox="1"/>
          <p:nvPr/>
        </p:nvSpPr>
        <p:spPr>
          <a:xfrm>
            <a:off x="6439205" y="2485339"/>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4" name="Text 12"/>
          <p:cNvSpPr txBox="1"/>
          <p:nvPr/>
        </p:nvSpPr>
        <p:spPr>
          <a:xfrm>
            <a:off x="6439205" y="351312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5" name="Text 13"/>
          <p:cNvSpPr txBox="1"/>
          <p:nvPr/>
        </p:nvSpPr>
        <p:spPr>
          <a:xfrm>
            <a:off x="6572707" y="1429207"/>
            <a:ext cx="1755648" cy="200254"/>
          </a:xfrm>
          <a:prstGeom prst="rect">
            <a:avLst/>
          </a:prstGeom>
          <a:noFill/>
          <a:ln/>
        </p:spPr>
        <p:txBody>
          <a:bodyPr wrap="square" lIns="0" tIns="0" rIns="0" bIns="0" rtlCol="0" anchor="ctr"/>
          <a:lstStyle/>
          <a:p>
            <a:pPr algn="l" indent="0" marL="0">
              <a:buNone/>
            </a:pPr>
            <a:r>
              <a:rPr lang="en-US" sz="1100" b="1" dirty="0">
                <a:solidFill>
                  <a:srgbClr val="2D3748"/>
                </a:solidFill>
                <a:latin typeface="Noto Sans JP" pitchFamily="34" charset="0"/>
                <a:ea typeface="Noto Sans JP" pitchFamily="34" charset="-122"/>
                <a:cs typeface="Noto Sans JP" pitchFamily="34" charset="-120"/>
              </a:rPr>
              <a:t>外食: 節約ニーズへの対応</a:t>
            </a:r>
            <a:endParaRPr lang="en-US" sz="1100" dirty="0"/>
          </a:p>
        </p:txBody>
      </p:sp>
      <p:sp>
        <p:nvSpPr>
          <p:cNvPr id="16" name="Text 14"/>
          <p:cNvSpPr txBox="1"/>
          <p:nvPr/>
        </p:nvSpPr>
        <p:spPr>
          <a:xfrm>
            <a:off x="6572707" y="2456993"/>
            <a:ext cx="1479499" cy="200254"/>
          </a:xfrm>
          <a:prstGeom prst="rect">
            <a:avLst/>
          </a:prstGeom>
          <a:noFill/>
          <a:ln/>
        </p:spPr>
        <p:txBody>
          <a:bodyPr wrap="square" lIns="0" tIns="0" rIns="0" bIns="0" rtlCol="0" anchor="ctr"/>
          <a:lstStyle/>
          <a:p>
            <a:pPr algn="l" indent="0" marL="0">
              <a:buNone/>
            </a:pPr>
            <a:r>
              <a:rPr lang="en-US" sz="1100" b="1" dirty="0">
                <a:solidFill>
                  <a:srgbClr val="2D3748"/>
                </a:solidFill>
                <a:latin typeface="Noto Sans JP" pitchFamily="34" charset="0"/>
                <a:ea typeface="Noto Sans JP" pitchFamily="34" charset="-122"/>
                <a:cs typeface="Noto Sans JP" pitchFamily="34" charset="-120"/>
              </a:rPr>
              <a:t>小売: 価値訴求の工夫</a:t>
            </a:r>
            <a:endParaRPr lang="en-US" sz="1100" dirty="0"/>
          </a:p>
        </p:txBody>
      </p:sp>
      <p:sp>
        <p:nvSpPr>
          <p:cNvPr id="17" name="Text 15"/>
          <p:cNvSpPr txBox="1"/>
          <p:nvPr/>
        </p:nvSpPr>
        <p:spPr>
          <a:xfrm>
            <a:off x="6572707" y="3484778"/>
            <a:ext cx="1755648" cy="200254"/>
          </a:xfrm>
          <a:prstGeom prst="rect">
            <a:avLst/>
          </a:prstGeom>
          <a:noFill/>
          <a:ln/>
        </p:spPr>
        <p:txBody>
          <a:bodyPr wrap="square" lIns="0" tIns="0" rIns="0" bIns="0" rtlCol="0" anchor="ctr"/>
          <a:lstStyle/>
          <a:p>
            <a:pPr algn="l" indent="0" marL="0">
              <a:buNone/>
            </a:pPr>
            <a:r>
              <a:rPr lang="en-US" sz="1100" b="1" dirty="0">
                <a:solidFill>
                  <a:srgbClr val="2D3748"/>
                </a:solidFill>
                <a:latin typeface="Noto Sans JP" pitchFamily="34" charset="0"/>
                <a:ea typeface="Noto Sans JP" pitchFamily="34" charset="-122"/>
                <a:cs typeface="Noto Sans JP" pitchFamily="34" charset="-120"/>
              </a:rPr>
              <a:t>アパレル: 長期視点の提案</a:t>
            </a:r>
            <a:endParaRPr lang="en-US" sz="1100" dirty="0"/>
          </a:p>
        </p:txBody>
      </p:sp>
      <p:sp>
        <p:nvSpPr>
          <p:cNvPr id="18" name="Text 16"/>
          <p:cNvSpPr txBox="1"/>
          <p:nvPr/>
        </p:nvSpPr>
        <p:spPr>
          <a:xfrm>
            <a:off x="6572707" y="1662379"/>
            <a:ext cx="4922215" cy="362102"/>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小容量メニューの提供、セット値引きの強化、テイクアウトオプションの充実など、節約志向に対応した展開が必要。</a:t>
            </a:r>
            <a:endParaRPr lang="en-US" sz="900" dirty="0"/>
          </a:p>
        </p:txBody>
      </p:sp>
      <p:sp>
        <p:nvSpPr>
          <p:cNvPr id="19" name="Text 17"/>
          <p:cNvSpPr txBox="1"/>
          <p:nvPr/>
        </p:nvSpPr>
        <p:spPr>
          <a:xfrm>
            <a:off x="6572707" y="2690165"/>
            <a:ext cx="4960620" cy="362102"/>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PB商品拡充、大容量パック提供、値上げ抑制訴求とポイント還元連動で、コストパフォーマンスを可視化。</a:t>
            </a:r>
            <a:endParaRPr lang="en-US" sz="900" dirty="0"/>
          </a:p>
        </p:txBody>
      </p:sp>
      <p:sp>
        <p:nvSpPr>
          <p:cNvPr id="20" name="Text 18"/>
          <p:cNvSpPr txBox="1"/>
          <p:nvPr/>
        </p:nvSpPr>
        <p:spPr>
          <a:xfrm>
            <a:off x="6572707" y="3717950"/>
            <a:ext cx="4951476" cy="362102"/>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多用途・長寿命を訴求したベーシックアイテム強化、アウトレット/リユースサービスの併用提案。</a:t>
            </a:r>
            <a:endParaRPr lang="en-US" sz="900" dirty="0"/>
          </a:p>
        </p:txBody>
      </p:sp>
      <p:pic>
        <p:nvPicPr>
          <p:cNvPr id="21" name="Image 0" descr="preencoded.png">    </p:cNvPr>
          <p:cNvPicPr>
            <a:picLocks noChangeAspect="1"/>
          </p:cNvPicPr>
          <p:nvPr/>
        </p:nvPicPr>
        <p:blipFill>
          <a:blip r:embed="rId1"/>
          <a:srcRect l="0" r="0" t="-4" b="-4"/>
          <a:stretch/>
        </p:blipFill>
        <p:spPr>
          <a:xfrm>
            <a:off x="6324905" y="4398264"/>
            <a:ext cx="5296205" cy="2095805"/>
          </a:xfrm>
          <a:prstGeom prst="rect">
            <a:avLst/>
          </a:prstGeom>
        </p:spPr>
      </p:pic>
      <p:sp>
        <p:nvSpPr>
          <p:cNvPr id="22" name="Shape 19"/>
          <p:cNvSpPr/>
          <p:nvPr/>
        </p:nvSpPr>
        <p:spPr>
          <a:xfrm>
            <a:off x="10451592" y="237744"/>
            <a:ext cx="1505102" cy="286207"/>
          </a:xfrm>
          <a:prstGeom prst="roundRect">
            <a:avLst>
              <a:gd name="adj" fmla="val 42599"/>
            </a:avLst>
          </a:prstGeom>
          <a:solidFill>
            <a:srgbClr val="3182CE"/>
          </a:solidFill>
          <a:ln/>
        </p:spPr>
      </p:sp>
      <p:sp>
        <p:nvSpPr>
          <p:cNvPr id="23" name="Text 20"/>
          <p:cNvSpPr txBox="1"/>
          <p:nvPr/>
        </p:nvSpPr>
        <p:spPr>
          <a:xfrm>
            <a:off x="10565892" y="295351"/>
            <a:ext cx="1362456"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テーマ1: 家計の支出変化</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Shape 1"/>
          <p:cNvSpPr/>
          <p:nvPr/>
        </p:nvSpPr>
        <p:spPr>
          <a:xfrm>
            <a:off x="10201046" y="237744"/>
            <a:ext cx="1752905" cy="314554"/>
          </a:xfrm>
          <a:prstGeom prst="roundRect">
            <a:avLst>
              <a:gd name="adj" fmla="val 35236"/>
            </a:avLst>
          </a:prstGeom>
          <a:solidFill>
            <a:srgbClr val="3182CE"/>
          </a:solidFill>
          <a:ln/>
        </p:spPr>
      </p:sp>
      <p:sp>
        <p:nvSpPr>
          <p:cNvPr id="4" name="Text 2"/>
          <p:cNvSpPr txBox="1"/>
          <p:nvPr/>
        </p:nvSpPr>
        <p:spPr>
          <a:xfrm>
            <a:off x="10334549" y="295351"/>
            <a:ext cx="1586484"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テーマ2: 将来の支出意向</a:t>
            </a:r>
            <a:endParaRPr lang="en-US" sz="1000" dirty="0"/>
          </a:p>
        </p:txBody>
      </p:sp>
      <p:sp>
        <p:nvSpPr>
          <p:cNvPr id="5" name="Text 3"/>
          <p:cNvSpPr txBox="1"/>
          <p:nvPr/>
        </p:nvSpPr>
        <p:spPr>
          <a:xfrm>
            <a:off x="571500" y="247802"/>
            <a:ext cx="4753051" cy="438912"/>
          </a:xfrm>
          <a:prstGeom prst="rect">
            <a:avLst/>
          </a:prstGeom>
          <a:noFill/>
          <a:ln/>
        </p:spPr>
        <p:txBody>
          <a:bodyPr wrap="square" lIns="0" tIns="0" rIns="0" bIns="0" rtlCol="0" anchor="ctr"/>
          <a:lstStyle/>
          <a:p>
            <a:pPr algn="l" indent="0" marL="0">
              <a:buNone/>
            </a:pPr>
            <a:r>
              <a:rPr lang="en-US" sz="2400" b="1" dirty="0">
                <a:solidFill>
                  <a:srgbClr val="1A365D"/>
                </a:solidFill>
                <a:latin typeface="Noto Sans JP" pitchFamily="34" charset="0"/>
                <a:ea typeface="Noto Sans JP" pitchFamily="34" charset="-122"/>
                <a:cs typeface="Noto Sans JP" pitchFamily="34" charset="-120"/>
              </a:rPr>
              <a:t>景気回復時の支出意向 - 定量分析</a:t>
            </a:r>
            <a:endParaRPr lang="en-US" sz="2400" dirty="0"/>
          </a:p>
        </p:txBody>
      </p:sp>
      <p:sp>
        <p:nvSpPr>
          <p:cNvPr id="6" name="Shape 4"/>
          <p:cNvSpPr/>
          <p:nvPr/>
        </p:nvSpPr>
        <p:spPr>
          <a:xfrm>
            <a:off x="571500" y="771754"/>
            <a:ext cx="761695" cy="28346"/>
          </a:xfrm>
          <a:prstGeom prst="rect">
            <a:avLst/>
          </a:prstGeom>
          <a:solidFill>
            <a:srgbClr val="3182CE"/>
          </a:solidFill>
          <a:ln/>
        </p:spPr>
      </p:sp>
      <p:sp>
        <p:nvSpPr>
          <p:cNvPr id="7" name="Text 5"/>
          <p:cNvSpPr txBox="1"/>
          <p:nvPr/>
        </p:nvSpPr>
        <p:spPr>
          <a:xfrm>
            <a:off x="571500" y="990295"/>
            <a:ext cx="8097012" cy="228600"/>
          </a:xfrm>
          <a:prstGeom prst="rect">
            <a:avLst/>
          </a:prstGeom>
          <a:noFill/>
          <a:ln/>
        </p:spPr>
        <p:txBody>
          <a:bodyPr wrap="square" lIns="0" tIns="0" rIns="0" bIns="0" rtlCol="0" anchor="ctr"/>
          <a:lstStyle/>
          <a:p>
            <a:pPr algn="l" indent="0" marL="0">
              <a:buNone/>
            </a:pPr>
            <a:r>
              <a:rPr lang="en-US" sz="1200" dirty="0">
                <a:solidFill>
                  <a:srgbClr val="2D3748"/>
                </a:solidFill>
                <a:latin typeface="Noto Sans JP" pitchFamily="34" charset="0"/>
                <a:ea typeface="Noto Sans JP" pitchFamily="34" charset="-122"/>
                <a:cs typeface="Noto Sans JP" pitchFamily="34" charset="-120"/>
              </a:rPr>
              <a:t>設問: 景気が回復したら（物価が以前レベルに戻ったら）今よりお金をかけたいと思う分野をすべてお教えください。</a:t>
            </a:r>
            <a:endParaRPr lang="en-US" sz="1200" dirty="0"/>
          </a:p>
        </p:txBody>
      </p:sp>
      <p:pic>
        <p:nvPicPr>
          <p:cNvPr id="8" name="Image 0" descr="preencoded.png">    </p:cNvPr>
          <p:cNvPicPr>
            <a:picLocks noChangeAspect="1"/>
          </p:cNvPicPr>
          <p:nvPr/>
        </p:nvPicPr>
        <p:blipFill>
          <a:blip r:embed="rId1"/>
          <a:srcRect l="0" r="0" t="-6" b="-6"/>
          <a:stretch/>
        </p:blipFill>
        <p:spPr>
          <a:xfrm>
            <a:off x="571500" y="1314907"/>
            <a:ext cx="11048695" cy="3238805"/>
          </a:xfrm>
          <a:prstGeom prst="rect">
            <a:avLst/>
          </a:prstGeom>
        </p:spPr>
      </p:pic>
      <p:sp>
        <p:nvSpPr>
          <p:cNvPr id="9" name="Shape 6"/>
          <p:cNvSpPr/>
          <p:nvPr/>
        </p:nvSpPr>
        <p:spPr>
          <a:xfrm>
            <a:off x="571500" y="4791456"/>
            <a:ext cx="11048695" cy="1104595"/>
          </a:xfrm>
          <a:prstGeom prst="rect">
            <a:avLst/>
          </a:prstGeom>
          <a:solidFill>
            <a:srgbClr val="EBF8FF"/>
          </a:solidFill>
          <a:ln/>
        </p:spPr>
      </p:sp>
      <p:sp>
        <p:nvSpPr>
          <p:cNvPr id="10" name="Shape 7"/>
          <p:cNvSpPr/>
          <p:nvPr/>
        </p:nvSpPr>
        <p:spPr>
          <a:xfrm>
            <a:off x="571500" y="4791456"/>
            <a:ext cx="38405" cy="1104595"/>
          </a:xfrm>
          <a:prstGeom prst="rect">
            <a:avLst/>
          </a:prstGeom>
          <a:solidFill>
            <a:srgbClr val="3182CE"/>
          </a:solidFill>
          <a:ln/>
        </p:spPr>
      </p:sp>
      <p:sp>
        <p:nvSpPr>
          <p:cNvPr id="11" name="Text 8"/>
          <p:cNvSpPr txBox="1"/>
          <p:nvPr/>
        </p:nvSpPr>
        <p:spPr>
          <a:xfrm>
            <a:off x="780898" y="4905756"/>
            <a:ext cx="734263" cy="228600"/>
          </a:xfrm>
          <a:prstGeom prst="rect">
            <a:avLst/>
          </a:prstGeom>
          <a:noFill/>
          <a:ln/>
        </p:spPr>
        <p:txBody>
          <a:bodyPr wrap="square" lIns="0" tIns="0" rIns="0" bIns="0" rtlCol="0" anchor="ctr"/>
          <a:lstStyle/>
          <a:p>
            <a:pPr algn="l" indent="0" marL="0">
              <a:buNone/>
            </a:pPr>
            <a:r>
              <a:rPr lang="en-US" sz="1200" b="1" dirty="0">
                <a:solidFill>
                  <a:srgbClr val="2C5282"/>
                </a:solidFill>
                <a:latin typeface="Noto Sans JP" pitchFamily="34" charset="0"/>
                <a:ea typeface="Noto Sans JP" pitchFamily="34" charset="-122"/>
                <a:cs typeface="Noto Sans JP" pitchFamily="34" charset="-120"/>
              </a:rPr>
              <a:t>主要発見</a:t>
            </a:r>
            <a:endParaRPr lang="en-US" sz="1200" dirty="0"/>
          </a:p>
        </p:txBody>
      </p:sp>
      <p:sp>
        <p:nvSpPr>
          <p:cNvPr id="12" name="Text 9"/>
          <p:cNvSpPr txBox="1"/>
          <p:nvPr/>
        </p:nvSpPr>
        <p:spPr>
          <a:xfrm>
            <a:off x="780898" y="5210251"/>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3" name="Text 10"/>
          <p:cNvSpPr txBox="1"/>
          <p:nvPr/>
        </p:nvSpPr>
        <p:spPr>
          <a:xfrm>
            <a:off x="780898" y="5495544"/>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4" name="Text 11"/>
          <p:cNvSpPr txBox="1"/>
          <p:nvPr/>
        </p:nvSpPr>
        <p:spPr>
          <a:xfrm>
            <a:off x="915314" y="5210251"/>
            <a:ext cx="4699102"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国内旅行（40.8%）が最も高く、外食（32.7%）、趣味（29.1%）が続く</a:t>
            </a:r>
            <a:endParaRPr lang="en-US" sz="1100" dirty="0"/>
          </a:p>
        </p:txBody>
      </p:sp>
      <p:sp>
        <p:nvSpPr>
          <p:cNvPr id="15" name="Text 12"/>
          <p:cNvSpPr txBox="1"/>
          <p:nvPr/>
        </p:nvSpPr>
        <p:spPr>
          <a:xfrm>
            <a:off x="915314" y="5495544"/>
            <a:ext cx="5070348"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衣類（22.8%）や食料品（21.2%）も上位に位置し、多様な分野への意向あり</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95351"/>
            <a:ext cx="2667305" cy="495605"/>
          </a:xfrm>
          <a:prstGeom prst="rect">
            <a:avLst/>
          </a:prstGeom>
          <a:noFill/>
          <a:ln/>
        </p:spPr>
        <p:txBody>
          <a:bodyPr wrap="square" lIns="0" tIns="0" rIns="0" bIns="0" rtlCol="0" anchor="ctr"/>
          <a:lstStyle/>
          <a:p>
            <a:pPr algn="l" indent="0" marL="0">
              <a:buNone/>
            </a:pPr>
            <a:r>
              <a:rPr lang="en-US" sz="2700" b="1" dirty="0">
                <a:solidFill>
                  <a:srgbClr val="1A365D"/>
                </a:solidFill>
                <a:latin typeface="Noto Sans JP" pitchFamily="34" charset="0"/>
                <a:ea typeface="Noto Sans JP" pitchFamily="34" charset="-122"/>
                <a:cs typeface="Noto Sans JP" pitchFamily="34" charset="-120"/>
              </a:rPr>
              <a:t>洞察と推奨事項</a:t>
            </a:r>
            <a:endParaRPr lang="en-US" sz="2700" dirty="0"/>
          </a:p>
        </p:txBody>
      </p:sp>
      <p:sp>
        <p:nvSpPr>
          <p:cNvPr id="4" name="Shape 2"/>
          <p:cNvSpPr/>
          <p:nvPr/>
        </p:nvSpPr>
        <p:spPr>
          <a:xfrm>
            <a:off x="571500" y="895198"/>
            <a:ext cx="761695" cy="28346"/>
          </a:xfrm>
          <a:prstGeom prst="rect">
            <a:avLst/>
          </a:prstGeom>
          <a:solidFill>
            <a:srgbClr val="3182CE"/>
          </a:solidFill>
          <a:ln/>
        </p:spPr>
      </p:sp>
      <p:sp>
        <p:nvSpPr>
          <p:cNvPr id="5" name="Text 3"/>
          <p:cNvSpPr txBox="1"/>
          <p:nvPr/>
        </p:nvSpPr>
        <p:spPr>
          <a:xfrm>
            <a:off x="571500" y="1114654"/>
            <a:ext cx="905256" cy="277063"/>
          </a:xfrm>
          <a:prstGeom prst="rect">
            <a:avLst/>
          </a:prstGeom>
          <a:noFill/>
          <a:ln/>
        </p:spPr>
        <p:txBody>
          <a:bodyPr wrap="square" lIns="0" tIns="0" rIns="0" bIns="0" rtlCol="0" anchor="ctr"/>
          <a:lstStyle/>
          <a:p>
            <a:pPr algn="l" indent="0" marL="0">
              <a:buNone/>
            </a:pPr>
            <a:r>
              <a:rPr lang="en-US" sz="1500" b="1" dirty="0">
                <a:solidFill>
                  <a:srgbClr val="2D3748"/>
                </a:solidFill>
                <a:latin typeface="Noto Sans JP" pitchFamily="34" charset="0"/>
                <a:ea typeface="Noto Sans JP" pitchFamily="34" charset="-122"/>
                <a:cs typeface="Noto Sans JP" pitchFamily="34" charset="-120"/>
              </a:rPr>
              <a:t>統合解釈</a:t>
            </a:r>
            <a:endParaRPr lang="en-US" sz="1500" dirty="0"/>
          </a:p>
        </p:txBody>
      </p:sp>
      <p:sp>
        <p:nvSpPr>
          <p:cNvPr id="6" name="Text 4"/>
          <p:cNvSpPr txBox="1"/>
          <p:nvPr/>
        </p:nvSpPr>
        <p:spPr>
          <a:xfrm>
            <a:off x="571500" y="1495044"/>
            <a:ext cx="195682" cy="247802"/>
          </a:xfrm>
          <a:prstGeom prst="rect">
            <a:avLst/>
          </a:prstGeom>
          <a:noFill/>
          <a:ln/>
        </p:spPr>
        <p:txBody>
          <a:bodyPr wrap="square" lIns="0" tIns="0" rIns="0" bIns="0" rtlCol="0" anchor="ctr"/>
          <a:lstStyle/>
          <a:p>
            <a:pPr algn="l" indent="0" marL="0">
              <a:buNone/>
            </a:pPr>
            <a:r>
              <a:rPr lang="en-US" sz="1300" b="1" dirty="0">
                <a:solidFill>
                  <a:srgbClr val="3182CE"/>
                </a:solidFill>
                <a:latin typeface="Noto Sans JP" pitchFamily="34" charset="0"/>
                <a:ea typeface="Noto Sans JP" pitchFamily="34" charset="-122"/>
                <a:cs typeface="Noto Sans JP" pitchFamily="34" charset="-120"/>
              </a:rPr>
              <a:t>•</a:t>
            </a:r>
            <a:endParaRPr lang="en-US" sz="1300" dirty="0"/>
          </a:p>
        </p:txBody>
      </p:sp>
      <p:sp>
        <p:nvSpPr>
          <p:cNvPr id="7" name="Text 5"/>
          <p:cNvSpPr txBox="1"/>
          <p:nvPr/>
        </p:nvSpPr>
        <p:spPr>
          <a:xfrm>
            <a:off x="571500" y="2287829"/>
            <a:ext cx="195682" cy="247802"/>
          </a:xfrm>
          <a:prstGeom prst="rect">
            <a:avLst/>
          </a:prstGeom>
          <a:noFill/>
          <a:ln/>
        </p:spPr>
        <p:txBody>
          <a:bodyPr wrap="square" lIns="0" tIns="0" rIns="0" bIns="0" rtlCol="0" anchor="ctr"/>
          <a:lstStyle/>
          <a:p>
            <a:pPr algn="l" indent="0" marL="0">
              <a:buNone/>
            </a:pPr>
            <a:r>
              <a:rPr lang="en-US" sz="1300" b="1" dirty="0">
                <a:solidFill>
                  <a:srgbClr val="3182CE"/>
                </a:solidFill>
                <a:latin typeface="Noto Sans JP" pitchFamily="34" charset="0"/>
                <a:ea typeface="Noto Sans JP" pitchFamily="34" charset="-122"/>
                <a:cs typeface="Noto Sans JP" pitchFamily="34" charset="-120"/>
              </a:rPr>
              <a:t>•</a:t>
            </a:r>
            <a:endParaRPr lang="en-US" sz="1300" dirty="0"/>
          </a:p>
        </p:txBody>
      </p:sp>
      <p:sp>
        <p:nvSpPr>
          <p:cNvPr id="8" name="Text 6"/>
          <p:cNvSpPr txBox="1"/>
          <p:nvPr/>
        </p:nvSpPr>
        <p:spPr>
          <a:xfrm>
            <a:off x="571500" y="2836469"/>
            <a:ext cx="195682" cy="247802"/>
          </a:xfrm>
          <a:prstGeom prst="rect">
            <a:avLst/>
          </a:prstGeom>
          <a:noFill/>
          <a:ln/>
        </p:spPr>
        <p:txBody>
          <a:bodyPr wrap="square" lIns="0" tIns="0" rIns="0" bIns="0" rtlCol="0" anchor="ctr"/>
          <a:lstStyle/>
          <a:p>
            <a:pPr algn="l" indent="0" marL="0">
              <a:buNone/>
            </a:pPr>
            <a:r>
              <a:rPr lang="en-US" sz="1300" b="1" dirty="0">
                <a:solidFill>
                  <a:srgbClr val="3182CE"/>
                </a:solidFill>
                <a:latin typeface="Noto Sans JP" pitchFamily="34" charset="0"/>
                <a:ea typeface="Noto Sans JP" pitchFamily="34" charset="-122"/>
                <a:cs typeface="Noto Sans JP" pitchFamily="34" charset="-120"/>
              </a:rPr>
              <a:t>•</a:t>
            </a:r>
            <a:endParaRPr lang="en-US" sz="1300" dirty="0"/>
          </a:p>
        </p:txBody>
      </p:sp>
      <p:sp>
        <p:nvSpPr>
          <p:cNvPr id="9" name="Text 7"/>
          <p:cNvSpPr txBox="1"/>
          <p:nvPr/>
        </p:nvSpPr>
        <p:spPr>
          <a:xfrm>
            <a:off x="731520" y="1495044"/>
            <a:ext cx="4953305" cy="476402"/>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回復局面での優先は「国内旅行（40.8%）」、次点「外食（32.7%）」「趣味・娯楽（29.1%）」。</a:t>
            </a:r>
            <a:endParaRPr lang="en-US" sz="1200" dirty="0"/>
          </a:p>
        </p:txBody>
      </p:sp>
      <p:sp>
        <p:nvSpPr>
          <p:cNvPr id="10" name="Text 8"/>
          <p:cNvSpPr txBox="1"/>
          <p:nvPr/>
        </p:nvSpPr>
        <p:spPr>
          <a:xfrm>
            <a:off x="731520" y="2287829"/>
            <a:ext cx="4877410" cy="228600"/>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生活関連への投資意向も一定（食料品・日用品21.2%、衣類22.8%）。</a:t>
            </a:r>
            <a:endParaRPr lang="en-US" sz="1200" dirty="0"/>
          </a:p>
        </p:txBody>
      </p:sp>
      <p:sp>
        <p:nvSpPr>
          <p:cNvPr id="11" name="Text 9"/>
          <p:cNvSpPr txBox="1"/>
          <p:nvPr/>
        </p:nvSpPr>
        <p:spPr>
          <a:xfrm>
            <a:off x="731520" y="2836469"/>
            <a:ext cx="5143500" cy="476402"/>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調査結果から、将来の支出意向において最も注目される分野は国内旅行であり、全体の40.8%がこの分野にお金をかけたいと回答しています。</a:t>
            </a:r>
            <a:endParaRPr lang="en-US" sz="1200" dirty="0"/>
          </a:p>
        </p:txBody>
      </p:sp>
      <p:sp>
        <p:nvSpPr>
          <p:cNvPr id="12" name="Text 10"/>
          <p:cNvSpPr txBox="1"/>
          <p:nvPr/>
        </p:nvSpPr>
        <p:spPr>
          <a:xfrm>
            <a:off x="6381598" y="1114654"/>
            <a:ext cx="1657807" cy="277063"/>
          </a:xfrm>
          <a:prstGeom prst="rect">
            <a:avLst/>
          </a:prstGeom>
          <a:noFill/>
          <a:ln/>
        </p:spPr>
        <p:txBody>
          <a:bodyPr wrap="square" lIns="0" tIns="0" rIns="0" bIns="0" rtlCol="0" anchor="ctr"/>
          <a:lstStyle/>
          <a:p>
            <a:pPr algn="l" indent="0" marL="0">
              <a:buNone/>
            </a:pPr>
            <a:r>
              <a:rPr lang="en-US" sz="1500" b="1" dirty="0">
                <a:solidFill>
                  <a:srgbClr val="2D3748"/>
                </a:solidFill>
                <a:latin typeface="Noto Sans JP" pitchFamily="34" charset="0"/>
                <a:ea typeface="Noto Sans JP" pitchFamily="34" charset="-122"/>
                <a:cs typeface="Noto Sans JP" pitchFamily="34" charset="-120"/>
              </a:rPr>
              <a:t>示唆・アクション</a:t>
            </a:r>
            <a:endParaRPr lang="en-US" sz="1500" dirty="0"/>
          </a:p>
        </p:txBody>
      </p:sp>
      <p:sp>
        <p:nvSpPr>
          <p:cNvPr id="13" name="Text 11"/>
          <p:cNvSpPr txBox="1"/>
          <p:nvPr/>
        </p:nvSpPr>
        <p:spPr>
          <a:xfrm>
            <a:off x="6381598" y="1495044"/>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4" name="Text 12"/>
          <p:cNvSpPr txBox="1"/>
          <p:nvPr/>
        </p:nvSpPr>
        <p:spPr>
          <a:xfrm>
            <a:off x="6381598" y="2006194"/>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5" name="Text 13"/>
          <p:cNvSpPr txBox="1"/>
          <p:nvPr/>
        </p:nvSpPr>
        <p:spPr>
          <a:xfrm>
            <a:off x="6381598" y="2516429"/>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6" name="Text 14"/>
          <p:cNvSpPr txBox="1"/>
          <p:nvPr/>
        </p:nvSpPr>
        <p:spPr>
          <a:xfrm>
            <a:off x="6516014" y="1495044"/>
            <a:ext cx="4343400" cy="228600"/>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旅行: 近場×短期の高CPプラン、平日割、地域クーポン連動。</a:t>
            </a:r>
            <a:endParaRPr lang="en-US" sz="1200" dirty="0"/>
          </a:p>
        </p:txBody>
      </p:sp>
      <p:sp>
        <p:nvSpPr>
          <p:cNvPr id="17" name="Text 15"/>
          <p:cNvSpPr txBox="1"/>
          <p:nvPr/>
        </p:nvSpPr>
        <p:spPr>
          <a:xfrm>
            <a:off x="6516014" y="2006194"/>
            <a:ext cx="4353458" cy="228600"/>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外食: 回復需要に向けた限定メニュー/フェア、予約導線強化。</a:t>
            </a:r>
            <a:endParaRPr lang="en-US" sz="1200" dirty="0"/>
          </a:p>
        </p:txBody>
      </p:sp>
      <p:sp>
        <p:nvSpPr>
          <p:cNvPr id="18" name="Text 16"/>
          <p:cNvSpPr txBox="1"/>
          <p:nvPr/>
        </p:nvSpPr>
        <p:spPr>
          <a:xfrm>
            <a:off x="6516014" y="2516429"/>
            <a:ext cx="3915461" cy="228600"/>
          </a:xfrm>
          <a:prstGeom prst="rect">
            <a:avLst/>
          </a:prstGeom>
          <a:noFill/>
          <a:ln/>
        </p:spPr>
        <p:txBody>
          <a:bodyPr wrap="square" lIns="0" tIns="0" rIns="0" bIns="0" rtlCol="0" anchor="ctr"/>
          <a:lstStyle/>
          <a:p>
            <a:pPr algn="l" indent="0" marL="0">
              <a:buNone/>
            </a:pPr>
            <a:r>
              <a:rPr lang="en-US" sz="1200" dirty="0">
                <a:solidFill>
                  <a:srgbClr val="4A5568"/>
                </a:solidFill>
                <a:latin typeface="Noto Sans JP" pitchFamily="34" charset="0"/>
                <a:ea typeface="Noto Sans JP" pitchFamily="34" charset="-122"/>
                <a:cs typeface="Noto Sans JP" pitchFamily="34" charset="-120"/>
              </a:rPr>
              <a:t>小売/娯楽: セット割・サブスク試用やポイント倍デー。</a:t>
            </a:r>
            <a:endParaRPr lang="en-US" sz="1200" dirty="0"/>
          </a:p>
        </p:txBody>
      </p:sp>
      <p:sp>
        <p:nvSpPr>
          <p:cNvPr id="19" name="Shape 17"/>
          <p:cNvSpPr/>
          <p:nvPr/>
        </p:nvSpPr>
        <p:spPr>
          <a:xfrm>
            <a:off x="6381598" y="3198571"/>
            <a:ext cx="2361895" cy="1086307"/>
          </a:xfrm>
          <a:prstGeom prst="roundRect">
            <a:avLst>
              <a:gd name="adj" fmla="val 5907"/>
            </a:avLst>
          </a:prstGeom>
          <a:solidFill>
            <a:srgbClr val="EBF8FF"/>
          </a:solidFill>
          <a:ln w="12700">
            <a:solidFill>
              <a:srgbClr val="90CDF4"/>
            </a:solidFill>
            <a:prstDash val="solid"/>
          </a:ln>
        </p:spPr>
      </p:sp>
      <p:sp>
        <p:nvSpPr>
          <p:cNvPr id="20" name="Shape 18"/>
          <p:cNvSpPr/>
          <p:nvPr/>
        </p:nvSpPr>
        <p:spPr>
          <a:xfrm>
            <a:off x="9262872" y="3198571"/>
            <a:ext cx="2361895" cy="1086307"/>
          </a:xfrm>
          <a:prstGeom prst="roundRect">
            <a:avLst>
              <a:gd name="adj" fmla="val 5907"/>
            </a:avLst>
          </a:prstGeom>
          <a:solidFill>
            <a:srgbClr val="EBF8FF"/>
          </a:solidFill>
          <a:ln w="12700">
            <a:solidFill>
              <a:srgbClr val="90CDF4"/>
            </a:solidFill>
            <a:prstDash val="solid"/>
          </a:ln>
        </p:spPr>
      </p:sp>
      <p:sp>
        <p:nvSpPr>
          <p:cNvPr id="21" name="Text 19"/>
          <p:cNvSpPr txBox="1"/>
          <p:nvPr/>
        </p:nvSpPr>
        <p:spPr>
          <a:xfrm>
            <a:off x="7255764" y="3360420"/>
            <a:ext cx="734263" cy="228600"/>
          </a:xfrm>
          <a:prstGeom prst="rect">
            <a:avLst/>
          </a:prstGeom>
          <a:noFill/>
          <a:ln/>
        </p:spPr>
        <p:txBody>
          <a:bodyPr wrap="square" lIns="0" tIns="0" rIns="0" bIns="0" rtlCol="0" anchor="ctr"/>
          <a:lstStyle/>
          <a:p>
            <a:pPr algn="ctr" indent="0" marL="0">
              <a:buNone/>
            </a:pPr>
            <a:r>
              <a:rPr lang="en-US" sz="1200" dirty="0">
                <a:solidFill>
                  <a:srgbClr val="2C5282"/>
                </a:solidFill>
                <a:latin typeface="Noto Sans JP" pitchFamily="34" charset="0"/>
                <a:ea typeface="Noto Sans JP" pitchFamily="34" charset="-122"/>
                <a:cs typeface="Noto Sans JP" pitchFamily="34" charset="-120"/>
              </a:rPr>
              <a:t>国内旅行</a:t>
            </a:r>
            <a:endParaRPr lang="en-US" sz="1200" dirty="0"/>
          </a:p>
        </p:txBody>
      </p:sp>
      <p:sp>
        <p:nvSpPr>
          <p:cNvPr id="22" name="Text 20"/>
          <p:cNvSpPr txBox="1"/>
          <p:nvPr/>
        </p:nvSpPr>
        <p:spPr>
          <a:xfrm>
            <a:off x="10288829" y="3360420"/>
            <a:ext cx="428854" cy="228600"/>
          </a:xfrm>
          <a:prstGeom prst="rect">
            <a:avLst/>
          </a:prstGeom>
          <a:noFill/>
          <a:ln/>
        </p:spPr>
        <p:txBody>
          <a:bodyPr wrap="square" lIns="0" tIns="0" rIns="0" bIns="0" rtlCol="0" anchor="ctr"/>
          <a:lstStyle/>
          <a:p>
            <a:pPr algn="ctr" indent="0" marL="0">
              <a:buNone/>
            </a:pPr>
            <a:r>
              <a:rPr lang="en-US" sz="1200" dirty="0">
                <a:solidFill>
                  <a:srgbClr val="2C5282"/>
                </a:solidFill>
                <a:latin typeface="Noto Sans JP" pitchFamily="34" charset="0"/>
                <a:ea typeface="Noto Sans JP" pitchFamily="34" charset="-122"/>
                <a:cs typeface="Noto Sans JP" pitchFamily="34" charset="-120"/>
              </a:rPr>
              <a:t>外食</a:t>
            </a:r>
            <a:endParaRPr lang="en-US" sz="1200" dirty="0"/>
          </a:p>
        </p:txBody>
      </p:sp>
      <p:sp>
        <p:nvSpPr>
          <p:cNvPr id="23" name="Text 21"/>
          <p:cNvSpPr txBox="1"/>
          <p:nvPr/>
        </p:nvSpPr>
        <p:spPr>
          <a:xfrm>
            <a:off x="7093915" y="3674974"/>
            <a:ext cx="1162202" cy="438912"/>
          </a:xfrm>
          <a:prstGeom prst="rect">
            <a:avLst/>
          </a:prstGeom>
          <a:noFill/>
          <a:ln/>
        </p:spPr>
        <p:txBody>
          <a:bodyPr wrap="square" lIns="0" tIns="0" rIns="0" bIns="0" rtlCol="0" anchor="ctr"/>
          <a:lstStyle/>
          <a:p>
            <a:pPr algn="ctr" indent="0" marL="0">
              <a:buNone/>
            </a:pPr>
            <a:r>
              <a:rPr lang="en-US" sz="2400" b="1" dirty="0">
                <a:solidFill>
                  <a:srgbClr val="2B6CB0"/>
                </a:solidFill>
                <a:latin typeface="Noto Sans JP" pitchFamily="34" charset="0"/>
                <a:ea typeface="Noto Sans JP" pitchFamily="34" charset="-122"/>
                <a:cs typeface="Noto Sans JP" pitchFamily="34" charset="-120"/>
              </a:rPr>
              <a:t>40.8%</a:t>
            </a:r>
            <a:endParaRPr lang="en-US" sz="2400" dirty="0"/>
          </a:p>
        </p:txBody>
      </p:sp>
      <p:sp>
        <p:nvSpPr>
          <p:cNvPr id="24" name="Text 22"/>
          <p:cNvSpPr txBox="1"/>
          <p:nvPr/>
        </p:nvSpPr>
        <p:spPr>
          <a:xfrm>
            <a:off x="9976104" y="3674974"/>
            <a:ext cx="1162202" cy="438912"/>
          </a:xfrm>
          <a:prstGeom prst="rect">
            <a:avLst/>
          </a:prstGeom>
          <a:noFill/>
          <a:ln/>
        </p:spPr>
        <p:txBody>
          <a:bodyPr wrap="square" lIns="0" tIns="0" rIns="0" bIns="0" rtlCol="0" anchor="ctr"/>
          <a:lstStyle/>
          <a:p>
            <a:pPr algn="ctr" indent="0" marL="0">
              <a:buNone/>
            </a:pPr>
            <a:r>
              <a:rPr lang="en-US" sz="2400" b="1" dirty="0">
                <a:solidFill>
                  <a:srgbClr val="2B6CB0"/>
                </a:solidFill>
                <a:latin typeface="Noto Sans JP" pitchFamily="34" charset="0"/>
                <a:ea typeface="Noto Sans JP" pitchFamily="34" charset="-122"/>
                <a:cs typeface="Noto Sans JP" pitchFamily="34" charset="-120"/>
              </a:rPr>
              <a:t>32.7%</a:t>
            </a:r>
            <a:endParaRPr lang="en-US" sz="2400" dirty="0"/>
          </a:p>
        </p:txBody>
      </p:sp>
      <p:sp>
        <p:nvSpPr>
          <p:cNvPr id="25" name="Shape 23"/>
          <p:cNvSpPr/>
          <p:nvPr/>
        </p:nvSpPr>
        <p:spPr>
          <a:xfrm>
            <a:off x="10239451" y="237744"/>
            <a:ext cx="1714500" cy="314554"/>
          </a:xfrm>
          <a:prstGeom prst="roundRect">
            <a:avLst>
              <a:gd name="adj" fmla="val 35236"/>
            </a:avLst>
          </a:prstGeom>
          <a:solidFill>
            <a:srgbClr val="3182CE"/>
          </a:solidFill>
          <a:ln/>
        </p:spPr>
      </p:sp>
      <p:sp>
        <p:nvSpPr>
          <p:cNvPr id="26" name="Text 24"/>
          <p:cNvSpPr txBox="1"/>
          <p:nvPr/>
        </p:nvSpPr>
        <p:spPr>
          <a:xfrm>
            <a:off x="10353751" y="295351"/>
            <a:ext cx="1586484"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テーマ2: 将来の支出意向</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3310128" cy="419710"/>
          </a:xfrm>
          <a:prstGeom prst="rect">
            <a:avLst/>
          </a:prstGeom>
          <a:noFill/>
          <a:ln/>
        </p:spPr>
        <p:txBody>
          <a:bodyPr wrap="square" lIns="0" tIns="0" rIns="0" bIns="0" rtlCol="0" anchor="ctr"/>
          <a:lstStyle/>
          <a:p>
            <a:pPr algn="l" indent="0" marL="0">
              <a:buNone/>
            </a:pPr>
            <a:r>
              <a:rPr lang="en-US" sz="2200" b="1" dirty="0">
                <a:solidFill>
                  <a:srgbClr val="1A365D"/>
                </a:solidFill>
                <a:latin typeface="Noto Sans JP" pitchFamily="34" charset="0"/>
                <a:ea typeface="Noto Sans JP" pitchFamily="34" charset="-122"/>
                <a:cs typeface="Noto Sans JP" pitchFamily="34" charset="-120"/>
              </a:rPr>
              <a:t>価値観の変化 - 定量分析</a:t>
            </a:r>
            <a:endParaRPr lang="en-US" sz="2200" dirty="0"/>
          </a:p>
        </p:txBody>
      </p:sp>
      <p:sp>
        <p:nvSpPr>
          <p:cNvPr id="4" name="Shape 2"/>
          <p:cNvSpPr/>
          <p:nvPr/>
        </p:nvSpPr>
        <p:spPr>
          <a:xfrm>
            <a:off x="571500" y="743407"/>
            <a:ext cx="761695" cy="28346"/>
          </a:xfrm>
          <a:prstGeom prst="rect">
            <a:avLst/>
          </a:prstGeom>
          <a:solidFill>
            <a:srgbClr val="3182CE"/>
          </a:solidFill>
          <a:ln/>
        </p:spPr>
      </p:sp>
      <p:sp>
        <p:nvSpPr>
          <p:cNvPr id="5" name="Text 3"/>
          <p:cNvSpPr txBox="1"/>
          <p:nvPr/>
        </p:nvSpPr>
        <p:spPr>
          <a:xfrm>
            <a:off x="571500" y="961949"/>
            <a:ext cx="7732166" cy="238658"/>
          </a:xfrm>
          <a:prstGeom prst="rect">
            <a:avLst/>
          </a:prstGeom>
          <a:noFill/>
          <a:ln/>
        </p:spPr>
        <p:txBody>
          <a:bodyPr wrap="square" lIns="0" tIns="0" rIns="0" bIns="0" rtlCol="0" anchor="ctr"/>
          <a:lstStyle/>
          <a:p>
            <a:pPr algn="l" indent="0" marL="0">
              <a:buNone/>
            </a:pPr>
            <a:r>
              <a:rPr lang="en-US" sz="1200" dirty="0">
                <a:solidFill>
                  <a:srgbClr val="2D3748"/>
                </a:solidFill>
                <a:latin typeface="Noto Sans JP" pitchFamily="34" charset="0"/>
                <a:ea typeface="Noto Sans JP" pitchFamily="34" charset="-122"/>
                <a:cs typeface="Noto Sans JP" pitchFamily="34" charset="-120"/>
              </a:rPr>
              <a:t>設問: この1年程の間で、あなたの価値観に変化はありましたか。あてはまるものを全てお選びください。</a:t>
            </a:r>
            <a:endParaRPr lang="en-US" sz="1200" dirty="0"/>
          </a:p>
        </p:txBody>
      </p:sp>
      <p:pic>
        <p:nvPicPr>
          <p:cNvPr id="6" name="Image 0" descr="preencoded.png">    </p:cNvPr>
          <p:cNvPicPr>
            <a:picLocks noChangeAspect="1"/>
          </p:cNvPicPr>
          <p:nvPr/>
        </p:nvPicPr>
        <p:blipFill>
          <a:blip r:embed="rId1"/>
          <a:srcRect l="0" r="0" t="-6" b="-6"/>
          <a:stretch/>
        </p:blipFill>
        <p:spPr>
          <a:xfrm>
            <a:off x="571500" y="1319479"/>
            <a:ext cx="11048695" cy="3238805"/>
          </a:xfrm>
          <a:prstGeom prst="rect">
            <a:avLst/>
          </a:prstGeom>
        </p:spPr>
      </p:pic>
      <p:sp>
        <p:nvSpPr>
          <p:cNvPr id="7" name="Shape 4"/>
          <p:cNvSpPr/>
          <p:nvPr/>
        </p:nvSpPr>
        <p:spPr>
          <a:xfrm>
            <a:off x="571500" y="4796028"/>
            <a:ext cx="11048695" cy="1123798"/>
          </a:xfrm>
          <a:prstGeom prst="rect">
            <a:avLst/>
          </a:prstGeom>
          <a:solidFill>
            <a:srgbClr val="EBF8FF"/>
          </a:solidFill>
          <a:ln/>
        </p:spPr>
      </p:sp>
      <p:sp>
        <p:nvSpPr>
          <p:cNvPr id="8" name="Shape 5"/>
          <p:cNvSpPr/>
          <p:nvPr/>
        </p:nvSpPr>
        <p:spPr>
          <a:xfrm>
            <a:off x="571500" y="4796028"/>
            <a:ext cx="38405" cy="1123798"/>
          </a:xfrm>
          <a:prstGeom prst="rect">
            <a:avLst/>
          </a:prstGeom>
          <a:solidFill>
            <a:srgbClr val="3182CE"/>
          </a:solidFill>
          <a:ln/>
        </p:spPr>
      </p:sp>
      <p:sp>
        <p:nvSpPr>
          <p:cNvPr id="9" name="Text 6"/>
          <p:cNvSpPr txBox="1"/>
          <p:nvPr/>
        </p:nvSpPr>
        <p:spPr>
          <a:xfrm>
            <a:off x="780898" y="4910328"/>
            <a:ext cx="769925" cy="238658"/>
          </a:xfrm>
          <a:prstGeom prst="rect">
            <a:avLst/>
          </a:prstGeom>
          <a:noFill/>
          <a:ln/>
        </p:spPr>
        <p:txBody>
          <a:bodyPr wrap="square" lIns="0" tIns="0" rIns="0" bIns="0" rtlCol="0" anchor="ctr"/>
          <a:lstStyle/>
          <a:p>
            <a:pPr algn="l" indent="0" marL="0">
              <a:buNone/>
            </a:pPr>
            <a:r>
              <a:rPr lang="en-US" sz="1200" b="1" dirty="0">
                <a:solidFill>
                  <a:srgbClr val="2C5282"/>
                </a:solidFill>
                <a:latin typeface="Noto Sans JP" pitchFamily="34" charset="0"/>
                <a:ea typeface="Noto Sans JP" pitchFamily="34" charset="-122"/>
                <a:cs typeface="Noto Sans JP" pitchFamily="34" charset="-120"/>
              </a:rPr>
              <a:t>主要発見</a:t>
            </a:r>
            <a:endParaRPr lang="en-US" sz="1200" dirty="0"/>
          </a:p>
        </p:txBody>
      </p:sp>
      <p:sp>
        <p:nvSpPr>
          <p:cNvPr id="10" name="Text 7"/>
          <p:cNvSpPr txBox="1"/>
          <p:nvPr/>
        </p:nvSpPr>
        <p:spPr>
          <a:xfrm>
            <a:off x="780898" y="5229454"/>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8"/>
          <p:cNvSpPr txBox="1"/>
          <p:nvPr/>
        </p:nvSpPr>
        <p:spPr>
          <a:xfrm>
            <a:off x="780898" y="5514746"/>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9"/>
          <p:cNvSpPr txBox="1"/>
          <p:nvPr/>
        </p:nvSpPr>
        <p:spPr>
          <a:xfrm>
            <a:off x="915314" y="5229454"/>
            <a:ext cx="4222699"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コスト重視の価値観が強まり、90.2%がこの傾向を示している。</a:t>
            </a:r>
            <a:endParaRPr lang="en-US" sz="1100" dirty="0"/>
          </a:p>
        </p:txBody>
      </p:sp>
      <p:sp>
        <p:nvSpPr>
          <p:cNvPr id="13" name="Text 10"/>
          <p:cNvSpPr txBox="1"/>
          <p:nvPr/>
        </p:nvSpPr>
        <p:spPr>
          <a:xfrm>
            <a:off x="915314" y="5514746"/>
            <a:ext cx="4374490"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健康・環境への配慮は27.8%に留まり、経済性優先の傾向が顕著。</a:t>
            </a:r>
            <a:endParaRPr lang="en-US" sz="1100" dirty="0"/>
          </a:p>
        </p:txBody>
      </p:sp>
      <p:sp>
        <p:nvSpPr>
          <p:cNvPr id="14" name="Shape 11"/>
          <p:cNvSpPr/>
          <p:nvPr/>
        </p:nvSpPr>
        <p:spPr>
          <a:xfrm>
            <a:off x="9710014" y="237744"/>
            <a:ext cx="2247595" cy="295351"/>
          </a:xfrm>
          <a:prstGeom prst="roundRect">
            <a:avLst>
              <a:gd name="adj" fmla="val 39948"/>
            </a:avLst>
          </a:prstGeom>
          <a:solidFill>
            <a:srgbClr val="3182CE"/>
          </a:solidFill>
          <a:ln/>
        </p:spPr>
      </p:sp>
      <p:sp>
        <p:nvSpPr>
          <p:cNvPr id="15" name="Text 12"/>
          <p:cNvSpPr txBox="1"/>
          <p:nvPr/>
        </p:nvSpPr>
        <p:spPr>
          <a:xfrm>
            <a:off x="9824314" y="286207"/>
            <a:ext cx="211957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テーマ3: 価値観の変化とその影響</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2738628" cy="419710"/>
          </a:xfrm>
          <a:prstGeom prst="rect">
            <a:avLst/>
          </a:prstGeom>
          <a:noFill/>
          <a:ln/>
        </p:spPr>
        <p:txBody>
          <a:bodyPr wrap="square" lIns="0" tIns="0" rIns="0" bIns="0" rtlCol="0" anchor="ctr"/>
          <a:lstStyle/>
          <a:p>
            <a:pPr algn="l" indent="0" marL="0">
              <a:buNone/>
            </a:pPr>
            <a:r>
              <a:rPr lang="en-US" sz="2200" b="1" dirty="0">
                <a:solidFill>
                  <a:srgbClr val="1A365D"/>
                </a:solidFill>
                <a:latin typeface="Noto Sans JP" pitchFamily="34" charset="0"/>
                <a:ea typeface="Noto Sans JP" pitchFamily="34" charset="-122"/>
                <a:cs typeface="Noto Sans JP" pitchFamily="34" charset="-120"/>
              </a:rPr>
              <a:t>貯蓄状況 - 定量分析</a:t>
            </a:r>
            <a:endParaRPr lang="en-US" sz="2200" dirty="0"/>
          </a:p>
        </p:txBody>
      </p:sp>
      <p:sp>
        <p:nvSpPr>
          <p:cNvPr id="4" name="Shape 2"/>
          <p:cNvSpPr/>
          <p:nvPr/>
        </p:nvSpPr>
        <p:spPr>
          <a:xfrm>
            <a:off x="571500" y="743407"/>
            <a:ext cx="761695" cy="28346"/>
          </a:xfrm>
          <a:prstGeom prst="rect">
            <a:avLst/>
          </a:prstGeom>
          <a:solidFill>
            <a:srgbClr val="3182CE"/>
          </a:solidFill>
          <a:ln/>
        </p:spPr>
      </p:sp>
      <p:sp>
        <p:nvSpPr>
          <p:cNvPr id="5" name="Text 3"/>
          <p:cNvSpPr txBox="1"/>
          <p:nvPr/>
        </p:nvSpPr>
        <p:spPr>
          <a:xfrm>
            <a:off x="571500" y="961949"/>
            <a:ext cx="4417466" cy="238658"/>
          </a:xfrm>
          <a:prstGeom prst="rect">
            <a:avLst/>
          </a:prstGeom>
          <a:noFill/>
          <a:ln/>
        </p:spPr>
        <p:txBody>
          <a:bodyPr wrap="square" lIns="0" tIns="0" rIns="0" bIns="0" rtlCol="0" anchor="ctr"/>
          <a:lstStyle/>
          <a:p>
            <a:pPr algn="l" indent="0" marL="0">
              <a:buNone/>
            </a:pPr>
            <a:r>
              <a:rPr lang="en-US" sz="1200" dirty="0">
                <a:solidFill>
                  <a:srgbClr val="2D3748"/>
                </a:solidFill>
                <a:latin typeface="Noto Sans JP" pitchFamily="34" charset="0"/>
                <a:ea typeface="Noto Sans JP" pitchFamily="34" charset="-122"/>
                <a:cs typeface="Noto Sans JP" pitchFamily="34" charset="-120"/>
              </a:rPr>
              <a:t>設問: あなたのご家庭のおよその貯蓄額をお教えください。</a:t>
            </a:r>
            <a:endParaRPr lang="en-US" sz="1200" dirty="0"/>
          </a:p>
        </p:txBody>
      </p:sp>
      <p:pic>
        <p:nvPicPr>
          <p:cNvPr id="6" name="Image 0" descr="preencoded.png">    </p:cNvPr>
          <p:cNvPicPr>
            <a:picLocks noChangeAspect="1"/>
          </p:cNvPicPr>
          <p:nvPr/>
        </p:nvPicPr>
        <p:blipFill>
          <a:blip r:embed="rId1"/>
          <a:srcRect l="0" r="0" t="-6" b="-6"/>
          <a:stretch/>
        </p:blipFill>
        <p:spPr>
          <a:xfrm>
            <a:off x="571500" y="1319479"/>
            <a:ext cx="11048695" cy="3238805"/>
          </a:xfrm>
          <a:prstGeom prst="rect">
            <a:avLst/>
          </a:prstGeom>
        </p:spPr>
      </p:pic>
      <p:sp>
        <p:nvSpPr>
          <p:cNvPr id="7" name="Shape 4"/>
          <p:cNvSpPr/>
          <p:nvPr/>
        </p:nvSpPr>
        <p:spPr>
          <a:xfrm>
            <a:off x="571500" y="4824374"/>
            <a:ext cx="11048695" cy="1123798"/>
          </a:xfrm>
          <a:prstGeom prst="rect">
            <a:avLst/>
          </a:prstGeom>
          <a:solidFill>
            <a:srgbClr val="EBF8FF"/>
          </a:solidFill>
          <a:ln/>
        </p:spPr>
      </p:sp>
      <p:sp>
        <p:nvSpPr>
          <p:cNvPr id="8" name="Shape 5"/>
          <p:cNvSpPr/>
          <p:nvPr/>
        </p:nvSpPr>
        <p:spPr>
          <a:xfrm>
            <a:off x="571500" y="4824374"/>
            <a:ext cx="38405" cy="1123798"/>
          </a:xfrm>
          <a:prstGeom prst="rect">
            <a:avLst/>
          </a:prstGeom>
          <a:solidFill>
            <a:srgbClr val="3182CE"/>
          </a:solidFill>
          <a:ln/>
        </p:spPr>
      </p:sp>
      <p:sp>
        <p:nvSpPr>
          <p:cNvPr id="9" name="Text 6"/>
          <p:cNvSpPr txBox="1"/>
          <p:nvPr/>
        </p:nvSpPr>
        <p:spPr>
          <a:xfrm>
            <a:off x="780898" y="4938674"/>
            <a:ext cx="769925" cy="238658"/>
          </a:xfrm>
          <a:prstGeom prst="rect">
            <a:avLst/>
          </a:prstGeom>
          <a:noFill/>
          <a:ln/>
        </p:spPr>
        <p:txBody>
          <a:bodyPr wrap="square" lIns="0" tIns="0" rIns="0" bIns="0" rtlCol="0" anchor="ctr"/>
          <a:lstStyle/>
          <a:p>
            <a:pPr algn="l" indent="0" marL="0">
              <a:buNone/>
            </a:pPr>
            <a:r>
              <a:rPr lang="en-US" sz="1200" b="1" dirty="0">
                <a:solidFill>
                  <a:srgbClr val="2C5282"/>
                </a:solidFill>
                <a:latin typeface="Noto Sans JP" pitchFamily="34" charset="0"/>
                <a:ea typeface="Noto Sans JP" pitchFamily="34" charset="-122"/>
                <a:cs typeface="Noto Sans JP" pitchFamily="34" charset="-120"/>
              </a:rPr>
              <a:t>主要発見</a:t>
            </a:r>
            <a:endParaRPr lang="en-US" sz="1200" dirty="0"/>
          </a:p>
        </p:txBody>
      </p:sp>
      <p:sp>
        <p:nvSpPr>
          <p:cNvPr id="10" name="Text 7"/>
          <p:cNvSpPr txBox="1"/>
          <p:nvPr/>
        </p:nvSpPr>
        <p:spPr>
          <a:xfrm>
            <a:off x="780898" y="5257800"/>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8"/>
          <p:cNvSpPr txBox="1"/>
          <p:nvPr/>
        </p:nvSpPr>
        <p:spPr>
          <a:xfrm>
            <a:off x="780898" y="5544007"/>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9"/>
          <p:cNvSpPr txBox="1"/>
          <p:nvPr/>
        </p:nvSpPr>
        <p:spPr>
          <a:xfrm>
            <a:off x="915314" y="5257800"/>
            <a:ext cx="3651199"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高額貯蓄層（2,000万円以上）は8.5%と少数派である。</a:t>
            </a:r>
            <a:endParaRPr lang="en-US" sz="1100" dirty="0"/>
          </a:p>
        </p:txBody>
      </p:sp>
      <p:sp>
        <p:nvSpPr>
          <p:cNvPr id="13" name="Text 10"/>
          <p:cNvSpPr txBox="1"/>
          <p:nvPr/>
        </p:nvSpPr>
        <p:spPr>
          <a:xfrm>
            <a:off x="915314" y="5544007"/>
            <a:ext cx="3375050" cy="200254"/>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「わからない」回答が17.4%と一定割合を占める。</a:t>
            </a:r>
            <a:endParaRPr lang="en-US" sz="1100" dirty="0"/>
          </a:p>
        </p:txBody>
      </p:sp>
      <p:sp>
        <p:nvSpPr>
          <p:cNvPr id="14" name="Shape 11"/>
          <p:cNvSpPr/>
          <p:nvPr/>
        </p:nvSpPr>
        <p:spPr>
          <a:xfrm>
            <a:off x="9710014" y="237744"/>
            <a:ext cx="2247595" cy="276149"/>
          </a:xfrm>
          <a:prstGeom prst="roundRect">
            <a:avLst>
              <a:gd name="adj" fmla="val 45672"/>
            </a:avLst>
          </a:prstGeom>
          <a:solidFill>
            <a:srgbClr val="3182CE"/>
          </a:solidFill>
          <a:ln/>
        </p:spPr>
      </p:sp>
      <p:sp>
        <p:nvSpPr>
          <p:cNvPr id="15" name="Text 12"/>
          <p:cNvSpPr txBox="1"/>
          <p:nvPr/>
        </p:nvSpPr>
        <p:spPr>
          <a:xfrm>
            <a:off x="9824314" y="276149"/>
            <a:ext cx="211957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テーマ3: 価値観の変化とその影響</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00254"/>
            <a:ext cx="2510028" cy="467258"/>
          </a:xfrm>
          <a:prstGeom prst="rect">
            <a:avLst/>
          </a:prstGeom>
          <a:noFill/>
          <a:ln/>
        </p:spPr>
        <p:txBody>
          <a:bodyPr wrap="square" lIns="0" tIns="0" rIns="0" bIns="0" rtlCol="0" anchor="ctr"/>
          <a:lstStyle/>
          <a:p>
            <a:pPr algn="l" indent="0" marL="0">
              <a:buNone/>
            </a:pPr>
            <a:r>
              <a:rPr lang="en-US" sz="2500" b="1" dirty="0">
                <a:solidFill>
                  <a:srgbClr val="1A365D"/>
                </a:solidFill>
                <a:latin typeface="Noto Sans JP" pitchFamily="34" charset="0"/>
                <a:ea typeface="Noto Sans JP" pitchFamily="34" charset="-122"/>
                <a:cs typeface="Noto Sans JP" pitchFamily="34" charset="-120"/>
              </a:rPr>
              <a:t>洞察と推奨事項</a:t>
            </a:r>
            <a:endParaRPr lang="en-US" sz="2500" dirty="0"/>
          </a:p>
        </p:txBody>
      </p:sp>
      <p:sp>
        <p:nvSpPr>
          <p:cNvPr id="4" name="Shape 2"/>
          <p:cNvSpPr/>
          <p:nvPr/>
        </p:nvSpPr>
        <p:spPr>
          <a:xfrm>
            <a:off x="571500" y="752551"/>
            <a:ext cx="761695" cy="28346"/>
          </a:xfrm>
          <a:prstGeom prst="rect">
            <a:avLst/>
          </a:prstGeom>
          <a:solidFill>
            <a:srgbClr val="3182CE"/>
          </a:solidFill>
          <a:ln/>
        </p:spPr>
      </p:sp>
      <p:sp>
        <p:nvSpPr>
          <p:cNvPr id="5" name="Text 3"/>
          <p:cNvSpPr txBox="1"/>
          <p:nvPr/>
        </p:nvSpPr>
        <p:spPr>
          <a:xfrm>
            <a:off x="571500" y="933602"/>
            <a:ext cx="905256" cy="277063"/>
          </a:xfrm>
          <a:prstGeom prst="rect">
            <a:avLst/>
          </a:prstGeom>
          <a:noFill/>
          <a:ln/>
        </p:spPr>
        <p:txBody>
          <a:bodyPr wrap="square" lIns="0" tIns="0" rIns="0" bIns="0" rtlCol="0" anchor="ctr"/>
          <a:lstStyle/>
          <a:p>
            <a:pPr algn="l" indent="0" marL="0">
              <a:buNone/>
            </a:pPr>
            <a:r>
              <a:rPr lang="en-US" sz="1500" b="1" dirty="0">
                <a:solidFill>
                  <a:srgbClr val="2D3748"/>
                </a:solidFill>
                <a:latin typeface="Noto Sans JP" pitchFamily="34" charset="0"/>
                <a:ea typeface="Noto Sans JP" pitchFamily="34" charset="-122"/>
                <a:cs typeface="Noto Sans JP" pitchFamily="34" charset="-120"/>
              </a:rPr>
              <a:t>統合解釈</a:t>
            </a:r>
            <a:endParaRPr lang="en-US" sz="1500" dirty="0"/>
          </a:p>
        </p:txBody>
      </p:sp>
      <p:sp>
        <p:nvSpPr>
          <p:cNvPr id="6" name="Text 4"/>
          <p:cNvSpPr txBox="1"/>
          <p:nvPr/>
        </p:nvSpPr>
        <p:spPr>
          <a:xfrm>
            <a:off x="571500" y="1295705"/>
            <a:ext cx="5384902" cy="1057961"/>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調査結果から、家計の節約行動に影響を与える価値観の変化が明らかになりました。特にコスト重視の価値観が強まり、全体の34.2%がコストパフォーマンスを重視するようになったことが示されています。また、ポイント制度や会員制度の積極活用（31.6%）やメリハリ消費（29.8%）という傾向も強まっており、消費者が賢く選択的に支出する意識が高まっています。</a:t>
            </a:r>
            <a:endParaRPr lang="en-US" sz="1100" dirty="0"/>
          </a:p>
        </p:txBody>
      </p:sp>
      <p:sp>
        <p:nvSpPr>
          <p:cNvPr id="7" name="Text 5"/>
          <p:cNvSpPr txBox="1"/>
          <p:nvPr/>
        </p:nvSpPr>
        <p:spPr>
          <a:xfrm>
            <a:off x="571500" y="2499970"/>
            <a:ext cx="5327294" cy="848563"/>
          </a:xfrm>
          <a:prstGeom prst="rect">
            <a:avLst/>
          </a:prstGeom>
          <a:noFill/>
          <a:ln/>
        </p:spPr>
        <p:txBody>
          <a:bodyPr wrap="square" lIns="0" tIns="0" rIns="0" bIns="0" rtlCol="0" anchor="ctr"/>
          <a:lstStyle/>
          <a:p>
            <a:pPr algn="l" indent="0" marL="0">
              <a:buNone/>
            </a:pPr>
            <a:r>
              <a:rPr lang="en-US" sz="1100" dirty="0">
                <a:solidFill>
                  <a:srgbClr val="4A5568"/>
                </a:solidFill>
                <a:latin typeface="Noto Sans JP" pitchFamily="34" charset="0"/>
                <a:ea typeface="Noto Sans JP" pitchFamily="34" charset="-122"/>
                <a:cs typeface="Noto Sans JP" pitchFamily="34" charset="-120"/>
              </a:rPr>
              <a:t>家庭の貯蓄状況では、500万円未満の層が31.9%と最も多く、経済的余裕の少ない家庭が多いことが浮き彫りになりました。一方で、「価値観に変化はない」という回答も28.2%存在し、約3割の消費者は物価高や円安の影響を受けつつも価値観を変えていないことも注目すべき点です。</a:t>
            </a:r>
            <a:endParaRPr lang="en-US" sz="1100" dirty="0"/>
          </a:p>
        </p:txBody>
      </p:sp>
      <p:sp>
        <p:nvSpPr>
          <p:cNvPr id="8" name="Text 6"/>
          <p:cNvSpPr txBox="1"/>
          <p:nvPr/>
        </p:nvSpPr>
        <p:spPr>
          <a:xfrm>
            <a:off x="6324905" y="933602"/>
            <a:ext cx="1657807" cy="277063"/>
          </a:xfrm>
          <a:prstGeom prst="rect">
            <a:avLst/>
          </a:prstGeom>
          <a:noFill/>
          <a:ln/>
        </p:spPr>
        <p:txBody>
          <a:bodyPr wrap="square" lIns="0" tIns="0" rIns="0" bIns="0" rtlCol="0" anchor="ctr"/>
          <a:lstStyle/>
          <a:p>
            <a:pPr algn="l" indent="0" marL="0">
              <a:buNone/>
            </a:pPr>
            <a:r>
              <a:rPr lang="en-US" sz="1500" b="1" dirty="0">
                <a:solidFill>
                  <a:srgbClr val="2D3748"/>
                </a:solidFill>
                <a:latin typeface="Noto Sans JP" pitchFamily="34" charset="0"/>
                <a:ea typeface="Noto Sans JP" pitchFamily="34" charset="-122"/>
                <a:cs typeface="Noto Sans JP" pitchFamily="34" charset="-120"/>
              </a:rPr>
              <a:t>示唆・アクション</a:t>
            </a:r>
            <a:endParaRPr lang="en-US" sz="1500" dirty="0"/>
          </a:p>
        </p:txBody>
      </p:sp>
      <p:sp>
        <p:nvSpPr>
          <p:cNvPr id="9" name="Text 7"/>
          <p:cNvSpPr txBox="1"/>
          <p:nvPr/>
        </p:nvSpPr>
        <p:spPr>
          <a:xfrm>
            <a:off x="6324905" y="129570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0" name="Text 8"/>
          <p:cNvSpPr txBox="1"/>
          <p:nvPr/>
        </p:nvSpPr>
        <p:spPr>
          <a:xfrm>
            <a:off x="6324905" y="174467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9"/>
          <p:cNvSpPr txBox="1"/>
          <p:nvPr/>
        </p:nvSpPr>
        <p:spPr>
          <a:xfrm>
            <a:off x="6324905" y="205008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10"/>
          <p:cNvSpPr txBox="1"/>
          <p:nvPr/>
        </p:nvSpPr>
        <p:spPr>
          <a:xfrm>
            <a:off x="6324905" y="249905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3" name="Text 11"/>
          <p:cNvSpPr txBox="1"/>
          <p:nvPr/>
        </p:nvSpPr>
        <p:spPr>
          <a:xfrm>
            <a:off x="6439205" y="1285646"/>
            <a:ext cx="5158130" cy="381305"/>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価格設計の見直し：エントリー価格帯商品強化、大容量パック、まとめ買い特典などコストパフォーマンス訴求</a:t>
            </a:r>
            <a:endParaRPr lang="en-US" sz="1000" dirty="0"/>
          </a:p>
        </p:txBody>
      </p:sp>
      <p:sp>
        <p:nvSpPr>
          <p:cNvPr id="14" name="Text 12"/>
          <p:cNvSpPr txBox="1"/>
          <p:nvPr/>
        </p:nvSpPr>
        <p:spPr>
          <a:xfrm>
            <a:off x="6439205" y="1735531"/>
            <a:ext cx="5168189"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プロモーション戦略：ポイント還元・会員特典の可視化、即時性のある還元施策強化</a:t>
            </a:r>
            <a:endParaRPr lang="en-US" sz="1000" dirty="0"/>
          </a:p>
        </p:txBody>
      </p:sp>
      <p:sp>
        <p:nvSpPr>
          <p:cNvPr id="15" name="Text 13"/>
          <p:cNvSpPr txBox="1"/>
          <p:nvPr/>
        </p:nvSpPr>
        <p:spPr>
          <a:xfrm>
            <a:off x="6439205" y="2040026"/>
            <a:ext cx="5158130" cy="381305"/>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差別化と付加価値：健康・安全性重視層（15.4%）には、コスト以外の価値を明確提示</a:t>
            </a:r>
            <a:endParaRPr lang="en-US" sz="1000" dirty="0"/>
          </a:p>
        </p:txBody>
      </p:sp>
      <p:sp>
        <p:nvSpPr>
          <p:cNvPr id="16" name="Text 14"/>
          <p:cNvSpPr txBox="1"/>
          <p:nvPr/>
        </p:nvSpPr>
        <p:spPr>
          <a:xfrm>
            <a:off x="6439205" y="2489911"/>
            <a:ext cx="4767682" cy="191110"/>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セグメント戦略：貯蓄額別の消費傾向分析、各層に適した商品・サービス提案</a:t>
            </a:r>
            <a:endParaRPr lang="en-US" sz="1000" dirty="0"/>
          </a:p>
        </p:txBody>
      </p:sp>
      <p:sp>
        <p:nvSpPr>
          <p:cNvPr id="17" name="Text 15"/>
          <p:cNvSpPr txBox="1"/>
          <p:nvPr/>
        </p:nvSpPr>
        <p:spPr>
          <a:xfrm>
            <a:off x="8544154" y="2880360"/>
            <a:ext cx="974750" cy="200254"/>
          </a:xfrm>
          <a:prstGeom prst="rect">
            <a:avLst/>
          </a:prstGeom>
          <a:noFill/>
          <a:ln/>
        </p:spPr>
        <p:txBody>
          <a:bodyPr wrap="square" lIns="0" tIns="0" rIns="0" bIns="0" rtlCol="0" anchor="ctr"/>
          <a:lstStyle/>
          <a:p>
            <a:pPr algn="ctr" indent="0" marL="0">
              <a:buNone/>
            </a:pPr>
            <a:r>
              <a:rPr lang="en-US" sz="1100" b="1" dirty="0">
                <a:solidFill>
                  <a:srgbClr val="2D3748"/>
                </a:solidFill>
                <a:latin typeface="Noto Sans JP" pitchFamily="34" charset="0"/>
                <a:ea typeface="Noto Sans JP" pitchFamily="34" charset="-122"/>
                <a:cs typeface="Noto Sans JP" pitchFamily="34" charset="-120"/>
              </a:rPr>
              <a:t>価値観の変化</a:t>
            </a:r>
            <a:endParaRPr lang="en-US" sz="1100" dirty="0"/>
          </a:p>
        </p:txBody>
      </p:sp>
      <p:pic>
        <p:nvPicPr>
          <p:cNvPr id="18" name="Image 0" descr="preencoded.png">    </p:cNvPr>
          <p:cNvPicPr>
            <a:picLocks noChangeAspect="1"/>
          </p:cNvPicPr>
          <p:nvPr/>
        </p:nvPicPr>
        <p:blipFill>
          <a:blip r:embed="rId1"/>
          <a:srcRect l="-3" r="-3" t="0" b="0"/>
          <a:stretch/>
        </p:blipFill>
        <p:spPr>
          <a:xfrm>
            <a:off x="6324905" y="3132734"/>
            <a:ext cx="5296205" cy="1714500"/>
          </a:xfrm>
          <a:prstGeom prst="rect">
            <a:avLst/>
          </a:prstGeom>
        </p:spPr>
      </p:pic>
      <p:sp>
        <p:nvSpPr>
          <p:cNvPr id="19" name="Shape 16"/>
          <p:cNvSpPr/>
          <p:nvPr/>
        </p:nvSpPr>
        <p:spPr>
          <a:xfrm>
            <a:off x="7683703" y="4746650"/>
            <a:ext cx="1181405" cy="724205"/>
          </a:xfrm>
          <a:prstGeom prst="roundRect">
            <a:avLst>
              <a:gd name="adj" fmla="val 13291"/>
            </a:avLst>
          </a:prstGeom>
          <a:solidFill>
            <a:srgbClr val="EBF8FF"/>
          </a:solidFill>
          <a:ln/>
          <a:effectLst>
            <a:outerShdw sx="100000" sy="100000" kx="0" ky="0" algn="bl" rotWithShape="0" blurRad="25400" dist="12700" dir="5400000">
              <a:srgbClr val="000000">
                <a:alpha val="10000"/>
              </a:srgbClr>
            </a:outerShdw>
          </a:effectLst>
        </p:spPr>
      </p:sp>
      <p:sp>
        <p:nvSpPr>
          <p:cNvPr id="20" name="Shape 17"/>
          <p:cNvSpPr/>
          <p:nvPr/>
        </p:nvSpPr>
        <p:spPr>
          <a:xfrm>
            <a:off x="9007754" y="4746650"/>
            <a:ext cx="1257300" cy="724205"/>
          </a:xfrm>
          <a:prstGeom prst="roundRect">
            <a:avLst>
              <a:gd name="adj" fmla="val 13291"/>
            </a:avLst>
          </a:prstGeom>
          <a:solidFill>
            <a:srgbClr val="EBF8FF"/>
          </a:solidFill>
          <a:ln/>
          <a:effectLst>
            <a:outerShdw sx="100000" sy="100000" kx="0" ky="0" algn="bl" rotWithShape="0" blurRad="25400" dist="12700" dir="5400000">
              <a:srgbClr val="000000">
                <a:alpha val="10000"/>
              </a:srgbClr>
            </a:outerShdw>
          </a:effectLst>
        </p:spPr>
      </p:sp>
      <p:sp>
        <p:nvSpPr>
          <p:cNvPr id="21" name="Text 18"/>
          <p:cNvSpPr txBox="1"/>
          <p:nvPr/>
        </p:nvSpPr>
        <p:spPr>
          <a:xfrm>
            <a:off x="7835494" y="4842662"/>
            <a:ext cx="969264" cy="181051"/>
          </a:xfrm>
          <a:prstGeom prst="rect">
            <a:avLst/>
          </a:prstGeom>
          <a:noFill/>
          <a:ln/>
        </p:spPr>
        <p:txBody>
          <a:bodyPr wrap="square" lIns="0" tIns="0" rIns="0" bIns="0" rtlCol="0" anchor="ctr"/>
          <a:lstStyle/>
          <a:p>
            <a:pPr algn="ctr" indent="0" marL="0">
              <a:buNone/>
            </a:pPr>
            <a:r>
              <a:rPr lang="en-US" sz="900" dirty="0">
                <a:solidFill>
                  <a:srgbClr val="2C5282"/>
                </a:solidFill>
                <a:latin typeface="Noto Sans JP" pitchFamily="34" charset="0"/>
                <a:ea typeface="Noto Sans JP" pitchFamily="34" charset="-122"/>
                <a:cs typeface="Noto Sans JP" pitchFamily="34" charset="-120"/>
              </a:rPr>
              <a:t>価値観変化あり</a:t>
            </a:r>
            <a:endParaRPr lang="en-US" sz="900" dirty="0"/>
          </a:p>
        </p:txBody>
      </p:sp>
      <p:sp>
        <p:nvSpPr>
          <p:cNvPr id="22" name="Text 19"/>
          <p:cNvSpPr txBox="1"/>
          <p:nvPr/>
        </p:nvSpPr>
        <p:spPr>
          <a:xfrm>
            <a:off x="9159545" y="4842662"/>
            <a:ext cx="1046074" cy="181051"/>
          </a:xfrm>
          <a:prstGeom prst="rect">
            <a:avLst/>
          </a:prstGeom>
          <a:noFill/>
          <a:ln/>
        </p:spPr>
        <p:txBody>
          <a:bodyPr wrap="square" lIns="0" tIns="0" rIns="0" bIns="0" rtlCol="0" anchor="ctr"/>
          <a:lstStyle/>
          <a:p>
            <a:pPr algn="ctr" indent="0" marL="0">
              <a:buNone/>
            </a:pPr>
            <a:r>
              <a:rPr lang="en-US" sz="900" dirty="0">
                <a:solidFill>
                  <a:srgbClr val="2C5282"/>
                </a:solidFill>
                <a:latin typeface="Noto Sans JP" pitchFamily="34" charset="0"/>
                <a:ea typeface="Noto Sans JP" pitchFamily="34" charset="-122"/>
                <a:cs typeface="Noto Sans JP" pitchFamily="34" charset="-120"/>
              </a:rPr>
              <a:t>貯蓄500万円未満</a:t>
            </a:r>
            <a:endParaRPr lang="en-US" sz="900" dirty="0"/>
          </a:p>
        </p:txBody>
      </p:sp>
      <p:sp>
        <p:nvSpPr>
          <p:cNvPr id="23" name="Text 20"/>
          <p:cNvSpPr txBox="1"/>
          <p:nvPr/>
        </p:nvSpPr>
        <p:spPr>
          <a:xfrm>
            <a:off x="7948879" y="5056632"/>
            <a:ext cx="805586" cy="305410"/>
          </a:xfrm>
          <a:prstGeom prst="rect">
            <a:avLst/>
          </a:prstGeom>
          <a:noFill/>
          <a:ln/>
        </p:spPr>
        <p:txBody>
          <a:bodyPr wrap="square" lIns="0" tIns="0" rIns="0" bIns="0" rtlCol="0" anchor="ctr"/>
          <a:lstStyle/>
          <a:p>
            <a:pPr algn="ctr" indent="0" marL="0">
              <a:buNone/>
            </a:pPr>
            <a:r>
              <a:rPr lang="en-US" sz="1600" b="1" dirty="0">
                <a:solidFill>
                  <a:srgbClr val="2B6CB0"/>
                </a:solidFill>
                <a:latin typeface="Noto Sans JP" pitchFamily="34" charset="0"/>
                <a:ea typeface="Noto Sans JP" pitchFamily="34" charset="-122"/>
                <a:cs typeface="Noto Sans JP" pitchFamily="34" charset="-120"/>
              </a:rPr>
              <a:t>71.8%</a:t>
            </a:r>
            <a:endParaRPr lang="en-US" sz="1600" dirty="0"/>
          </a:p>
        </p:txBody>
      </p:sp>
      <p:sp>
        <p:nvSpPr>
          <p:cNvPr id="24" name="Text 21"/>
          <p:cNvSpPr txBox="1"/>
          <p:nvPr/>
        </p:nvSpPr>
        <p:spPr>
          <a:xfrm>
            <a:off x="9314078" y="5056632"/>
            <a:ext cx="805586" cy="305410"/>
          </a:xfrm>
          <a:prstGeom prst="rect">
            <a:avLst/>
          </a:prstGeom>
          <a:noFill/>
          <a:ln/>
        </p:spPr>
        <p:txBody>
          <a:bodyPr wrap="square" lIns="0" tIns="0" rIns="0" bIns="0" rtlCol="0" anchor="ctr"/>
          <a:lstStyle/>
          <a:p>
            <a:pPr algn="ctr" indent="0" marL="0">
              <a:buNone/>
            </a:pPr>
            <a:r>
              <a:rPr lang="en-US" sz="1600" b="1" dirty="0">
                <a:solidFill>
                  <a:srgbClr val="2B6CB0"/>
                </a:solidFill>
                <a:latin typeface="Noto Sans JP" pitchFamily="34" charset="0"/>
                <a:ea typeface="Noto Sans JP" pitchFamily="34" charset="-122"/>
                <a:cs typeface="Noto Sans JP" pitchFamily="34" charset="-120"/>
              </a:rPr>
              <a:t>31.9%</a:t>
            </a:r>
            <a:endParaRPr lang="en-US" sz="1600" dirty="0"/>
          </a:p>
        </p:txBody>
      </p:sp>
      <p:sp>
        <p:nvSpPr>
          <p:cNvPr id="25" name="Shape 22"/>
          <p:cNvSpPr/>
          <p:nvPr/>
        </p:nvSpPr>
        <p:spPr>
          <a:xfrm>
            <a:off x="9748418" y="237744"/>
            <a:ext cx="2210105" cy="295351"/>
          </a:xfrm>
          <a:prstGeom prst="roundRect">
            <a:avLst>
              <a:gd name="adj" fmla="val 39948"/>
            </a:avLst>
          </a:prstGeom>
          <a:solidFill>
            <a:srgbClr val="3182CE"/>
          </a:solidFill>
          <a:ln/>
        </p:spPr>
      </p:sp>
      <p:sp>
        <p:nvSpPr>
          <p:cNvPr id="26" name="Text 23"/>
          <p:cNvSpPr txBox="1"/>
          <p:nvPr/>
        </p:nvSpPr>
        <p:spPr>
          <a:xfrm>
            <a:off x="9843516" y="286207"/>
            <a:ext cx="2119579"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テーマ3: 価値観の変化とその影響</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3663086" cy="419710"/>
          </a:xfrm>
          <a:prstGeom prst="rect">
            <a:avLst/>
          </a:prstGeom>
          <a:noFill/>
          <a:ln/>
        </p:spPr>
        <p:txBody>
          <a:bodyPr wrap="square" lIns="0" tIns="0" rIns="0" bIns="0" rtlCol="0" anchor="ctr"/>
          <a:lstStyle/>
          <a:p>
            <a:pPr algn="l" indent="0" marL="0">
              <a:buNone/>
            </a:pPr>
            <a:r>
              <a:rPr lang="en-US" sz="2200" b="1" dirty="0">
                <a:solidFill>
                  <a:srgbClr val="1A365D"/>
                </a:solidFill>
                <a:latin typeface="Noto Sans JP" pitchFamily="34" charset="0"/>
                <a:ea typeface="Noto Sans JP" pitchFamily="34" charset="-122"/>
                <a:cs typeface="Noto Sans JP" pitchFamily="34" charset="-120"/>
              </a:rPr>
              <a:t>米大統領選 所感 - 定性分析</a:t>
            </a:r>
            <a:endParaRPr lang="en-US" sz="2200" dirty="0"/>
          </a:p>
        </p:txBody>
      </p:sp>
      <p:sp>
        <p:nvSpPr>
          <p:cNvPr id="4" name="Shape 2"/>
          <p:cNvSpPr/>
          <p:nvPr/>
        </p:nvSpPr>
        <p:spPr>
          <a:xfrm>
            <a:off x="571500" y="743407"/>
            <a:ext cx="761695" cy="28346"/>
          </a:xfrm>
          <a:prstGeom prst="rect">
            <a:avLst/>
          </a:prstGeom>
          <a:solidFill>
            <a:srgbClr val="3182CE"/>
          </a:solidFill>
          <a:ln/>
        </p:spPr>
      </p:sp>
      <p:sp>
        <p:nvSpPr>
          <p:cNvPr id="5" name="Text 3"/>
          <p:cNvSpPr txBox="1"/>
          <p:nvPr/>
        </p:nvSpPr>
        <p:spPr>
          <a:xfrm>
            <a:off x="571500" y="961949"/>
            <a:ext cx="3238805" cy="914400"/>
          </a:xfrm>
          <a:prstGeom prst="rect">
            <a:avLst/>
          </a:prstGeom>
          <a:noFill/>
          <a:ln/>
        </p:spPr>
        <p:txBody>
          <a:bodyPr wrap="square" lIns="0" tIns="0" rIns="0" bIns="0" rtlCol="0" anchor="ctr"/>
          <a:lstStyle/>
          <a:p>
            <a:pPr algn="l" indent="0" marL="0">
              <a:buNone/>
            </a:pPr>
            <a:r>
              <a:rPr lang="en-US" sz="1200" dirty="0">
                <a:solidFill>
                  <a:srgbClr val="2D3748"/>
                </a:solidFill>
                <a:latin typeface="Noto Sans JP" pitchFamily="34" charset="0"/>
                <a:ea typeface="Noto Sans JP" pitchFamily="34" charset="-122"/>
                <a:cs typeface="Noto Sans JP" pitchFamily="34" charset="-120"/>
              </a:rPr>
              <a:t>設問: 今年のアメリカ大統領選挙でトランプ前大統領の当選が決まりました。この結果を受けてあなたが思うことを、自由にお答えください。</a:t>
            </a:r>
            <a:endParaRPr lang="en-US" sz="1200" dirty="0"/>
          </a:p>
        </p:txBody>
      </p:sp>
      <p:pic>
        <p:nvPicPr>
          <p:cNvPr id="6" name="Image 0" descr="preencoded.png">    </p:cNvPr>
          <p:cNvPicPr>
            <a:picLocks noChangeAspect="1"/>
          </p:cNvPicPr>
          <p:nvPr/>
        </p:nvPicPr>
        <p:blipFill>
          <a:blip r:embed="rId1"/>
          <a:srcRect l="0" r="0" t="-1" b="-1"/>
          <a:stretch/>
        </p:blipFill>
        <p:spPr>
          <a:xfrm>
            <a:off x="571500" y="1971446"/>
            <a:ext cx="3124505" cy="2667305"/>
          </a:xfrm>
          <a:prstGeom prst="rect">
            <a:avLst/>
          </a:prstGeom>
        </p:spPr>
      </p:pic>
      <p:sp>
        <p:nvSpPr>
          <p:cNvPr id="7" name="Text 4"/>
          <p:cNvSpPr txBox="1"/>
          <p:nvPr/>
        </p:nvSpPr>
        <p:spPr>
          <a:xfrm>
            <a:off x="571500" y="4781398"/>
            <a:ext cx="1093622" cy="181051"/>
          </a:xfrm>
          <a:prstGeom prst="rect">
            <a:avLst/>
          </a:prstGeom>
          <a:noFill/>
          <a:ln/>
        </p:spPr>
        <p:txBody>
          <a:bodyPr wrap="square" lIns="0" tIns="0" rIns="0" bIns="0" rtlCol="0" anchor="ctr"/>
          <a:lstStyle/>
          <a:p>
            <a:pPr algn="l" indent="0" marL="0">
              <a:buNone/>
            </a:pPr>
            <a:r>
              <a:rPr lang="en-US" sz="900" dirty="0">
                <a:solidFill>
                  <a:srgbClr val="718096"/>
                </a:solidFill>
                <a:latin typeface="Noto Sans JP" pitchFamily="34" charset="0"/>
                <a:ea typeface="Noto Sans JP" pitchFamily="34" charset="-122"/>
                <a:cs typeface="Noto Sans JP" pitchFamily="34" charset="-120"/>
              </a:rPr>
              <a:t>総回答数: 5,000件</a:t>
            </a:r>
            <a:endParaRPr lang="en-US" sz="900" dirty="0"/>
          </a:p>
        </p:txBody>
      </p:sp>
      <p:sp>
        <p:nvSpPr>
          <p:cNvPr id="8" name="Shape 5"/>
          <p:cNvSpPr/>
          <p:nvPr/>
        </p:nvSpPr>
        <p:spPr>
          <a:xfrm>
            <a:off x="4076395" y="1239012"/>
            <a:ext cx="7543800" cy="9144"/>
          </a:xfrm>
          <a:prstGeom prst="rect">
            <a:avLst/>
          </a:prstGeom>
          <a:solidFill>
            <a:srgbClr val="CBD5E0"/>
          </a:solidFill>
          <a:ln/>
        </p:spPr>
      </p:sp>
      <p:sp>
        <p:nvSpPr>
          <p:cNvPr id="9" name="Text 6"/>
          <p:cNvSpPr txBox="1"/>
          <p:nvPr/>
        </p:nvSpPr>
        <p:spPr>
          <a:xfrm>
            <a:off x="4076395" y="961949"/>
            <a:ext cx="1828800" cy="228600"/>
          </a:xfrm>
          <a:prstGeom prst="rect">
            <a:avLst/>
          </a:prstGeom>
          <a:noFill/>
          <a:ln/>
        </p:spPr>
        <p:txBody>
          <a:bodyPr wrap="square" lIns="0" tIns="0" rIns="0" bIns="0" rtlCol="0" anchor="ctr"/>
          <a:lstStyle/>
          <a:p>
            <a:pPr algn="l" indent="0" marL="0">
              <a:buNone/>
            </a:pPr>
            <a:r>
              <a:rPr lang="en-US" sz="1200" b="1" dirty="0">
                <a:solidFill>
                  <a:srgbClr val="2C5282"/>
                </a:solidFill>
                <a:latin typeface="Noto Sans JP" pitchFamily="34" charset="0"/>
                <a:ea typeface="Noto Sans JP" pitchFamily="34" charset="-122"/>
                <a:cs typeface="Noto Sans JP" pitchFamily="34" charset="-120"/>
              </a:rPr>
              <a:t>主要テーマ別 代表的回答</a:t>
            </a:r>
            <a:endParaRPr lang="en-US" sz="1200" dirty="0"/>
          </a:p>
        </p:txBody>
      </p:sp>
      <p:sp>
        <p:nvSpPr>
          <p:cNvPr id="10" name="Text 7"/>
          <p:cNvSpPr txBox="1"/>
          <p:nvPr/>
        </p:nvSpPr>
        <p:spPr>
          <a:xfrm>
            <a:off x="4076395" y="1362456"/>
            <a:ext cx="1776679" cy="200254"/>
          </a:xfrm>
          <a:prstGeom prst="rect">
            <a:avLst/>
          </a:prstGeom>
          <a:noFill/>
          <a:ln/>
        </p:spPr>
        <p:txBody>
          <a:bodyPr wrap="square" lIns="0" tIns="0" rIns="0" bIns="0" rtlCol="0" anchor="ctr"/>
          <a:lstStyle/>
          <a:p>
            <a:pPr algn="l" indent="0" marL="0">
              <a:buNone/>
            </a:pPr>
            <a:r>
              <a:rPr lang="en-US" sz="1000" b="1" dirty="0">
                <a:solidFill>
                  <a:srgbClr val="2C5282"/>
                </a:solidFill>
                <a:latin typeface="Noto Sans JP" pitchFamily="34" charset="0"/>
                <a:ea typeface="Noto Sans JP" pitchFamily="34" charset="-122"/>
                <a:cs typeface="Noto Sans JP" pitchFamily="34" charset="-120"/>
              </a:rPr>
              <a:t>1期待と不安の両面 (16.9%)</a:t>
            </a:r>
            <a:endParaRPr lang="en-US" sz="1000" dirty="0"/>
          </a:p>
        </p:txBody>
      </p:sp>
      <p:sp>
        <p:nvSpPr>
          <p:cNvPr id="11" name="Text 8"/>
          <p:cNvSpPr txBox="1"/>
          <p:nvPr/>
        </p:nvSpPr>
        <p:spPr>
          <a:xfrm>
            <a:off x="4076395" y="2961742"/>
            <a:ext cx="1643177" cy="200254"/>
          </a:xfrm>
          <a:prstGeom prst="rect">
            <a:avLst/>
          </a:prstGeom>
          <a:noFill/>
          <a:ln/>
        </p:spPr>
        <p:txBody>
          <a:bodyPr wrap="square" lIns="0" tIns="0" rIns="0" bIns="0" rtlCol="0" anchor="ctr"/>
          <a:lstStyle/>
          <a:p>
            <a:pPr algn="l" indent="0" marL="0">
              <a:buNone/>
            </a:pPr>
            <a:r>
              <a:rPr lang="en-US" sz="1000" b="1" dirty="0">
                <a:solidFill>
                  <a:srgbClr val="2C5282"/>
                </a:solidFill>
                <a:latin typeface="Noto Sans JP" pitchFamily="34" charset="0"/>
                <a:ea typeface="Noto Sans JP" pitchFamily="34" charset="-122"/>
                <a:cs typeface="Noto Sans JP" pitchFamily="34" charset="-120"/>
              </a:rPr>
              <a:t>2外交関係の不安 (13.4%)</a:t>
            </a:r>
            <a:endParaRPr lang="en-US" sz="1000" dirty="0"/>
          </a:p>
        </p:txBody>
      </p:sp>
      <p:sp>
        <p:nvSpPr>
          <p:cNvPr id="12" name="Text 9"/>
          <p:cNvSpPr txBox="1"/>
          <p:nvPr/>
        </p:nvSpPr>
        <p:spPr>
          <a:xfrm>
            <a:off x="4076395" y="4412894"/>
            <a:ext cx="1643177" cy="200254"/>
          </a:xfrm>
          <a:prstGeom prst="rect">
            <a:avLst/>
          </a:prstGeom>
          <a:noFill/>
          <a:ln/>
        </p:spPr>
        <p:txBody>
          <a:bodyPr wrap="square" lIns="0" tIns="0" rIns="0" bIns="0" rtlCol="0" anchor="ctr"/>
          <a:lstStyle/>
          <a:p>
            <a:pPr algn="l" indent="0" marL="0">
              <a:buNone/>
            </a:pPr>
            <a:r>
              <a:rPr lang="en-US" sz="1000" b="1" dirty="0">
                <a:solidFill>
                  <a:srgbClr val="2C5282"/>
                </a:solidFill>
                <a:latin typeface="Noto Sans JP" pitchFamily="34" charset="0"/>
                <a:ea typeface="Noto Sans JP" pitchFamily="34" charset="-122"/>
                <a:cs typeface="Noto Sans JP" pitchFamily="34" charset="-120"/>
              </a:rPr>
              <a:t>3トランプの評価 (11.8%)</a:t>
            </a:r>
            <a:endParaRPr lang="en-US" sz="1000" dirty="0"/>
          </a:p>
        </p:txBody>
      </p:sp>
      <p:sp>
        <p:nvSpPr>
          <p:cNvPr id="13" name="Text 10"/>
          <p:cNvSpPr txBox="1"/>
          <p:nvPr/>
        </p:nvSpPr>
        <p:spPr>
          <a:xfrm>
            <a:off x="7848295" y="1362456"/>
            <a:ext cx="1510589" cy="200254"/>
          </a:xfrm>
          <a:prstGeom prst="rect">
            <a:avLst/>
          </a:prstGeom>
          <a:noFill/>
          <a:ln/>
        </p:spPr>
        <p:txBody>
          <a:bodyPr wrap="square" lIns="0" tIns="0" rIns="0" bIns="0" rtlCol="0" anchor="ctr"/>
          <a:lstStyle/>
          <a:p>
            <a:pPr algn="l" indent="0" marL="0">
              <a:buNone/>
            </a:pPr>
            <a:r>
              <a:rPr lang="en-US" sz="1000" b="1" dirty="0">
                <a:solidFill>
                  <a:srgbClr val="2C5282"/>
                </a:solidFill>
                <a:latin typeface="Noto Sans JP" pitchFamily="34" charset="0"/>
                <a:ea typeface="Noto Sans JP" pitchFamily="34" charset="-122"/>
                <a:cs typeface="Noto Sans JP" pitchFamily="34" charset="-120"/>
              </a:rPr>
              <a:t>4物価高の懸念 (10.8%)</a:t>
            </a:r>
            <a:endParaRPr lang="en-US" sz="1000" dirty="0"/>
          </a:p>
        </p:txBody>
      </p:sp>
      <p:sp>
        <p:nvSpPr>
          <p:cNvPr id="14" name="Text 11"/>
          <p:cNvSpPr txBox="1"/>
          <p:nvPr/>
        </p:nvSpPr>
        <p:spPr>
          <a:xfrm>
            <a:off x="7848295" y="2813609"/>
            <a:ext cx="1510589" cy="200254"/>
          </a:xfrm>
          <a:prstGeom prst="rect">
            <a:avLst/>
          </a:prstGeom>
          <a:noFill/>
          <a:ln/>
        </p:spPr>
        <p:txBody>
          <a:bodyPr wrap="square" lIns="0" tIns="0" rIns="0" bIns="0" rtlCol="0" anchor="ctr"/>
          <a:lstStyle/>
          <a:p>
            <a:pPr algn="l" indent="0" marL="0">
              <a:buNone/>
            </a:pPr>
            <a:r>
              <a:rPr lang="en-US" sz="1000" b="1" dirty="0">
                <a:solidFill>
                  <a:srgbClr val="2C5282"/>
                </a:solidFill>
                <a:latin typeface="Noto Sans JP" pitchFamily="34" charset="0"/>
                <a:ea typeface="Noto Sans JP" pitchFamily="34" charset="-122"/>
                <a:cs typeface="Noto Sans JP" pitchFamily="34" charset="-120"/>
              </a:rPr>
              <a:t>5経済への影響 (10.7%)</a:t>
            </a:r>
            <a:endParaRPr lang="en-US" sz="1000" dirty="0"/>
          </a:p>
        </p:txBody>
      </p:sp>
      <p:sp>
        <p:nvSpPr>
          <p:cNvPr id="15" name="Shape 12"/>
          <p:cNvSpPr/>
          <p:nvPr/>
        </p:nvSpPr>
        <p:spPr>
          <a:xfrm>
            <a:off x="4076395" y="1619402"/>
            <a:ext cx="3676802" cy="676656"/>
          </a:xfrm>
          <a:prstGeom prst="rect">
            <a:avLst/>
          </a:prstGeom>
          <a:solidFill>
            <a:srgbClr val="F7FAFC"/>
          </a:solidFill>
          <a:ln/>
        </p:spPr>
      </p:sp>
      <p:sp>
        <p:nvSpPr>
          <p:cNvPr id="16" name="Shape 13"/>
          <p:cNvSpPr/>
          <p:nvPr/>
        </p:nvSpPr>
        <p:spPr>
          <a:xfrm>
            <a:off x="4076395" y="1619402"/>
            <a:ext cx="28346" cy="676656"/>
          </a:xfrm>
          <a:prstGeom prst="rect">
            <a:avLst/>
          </a:prstGeom>
          <a:solidFill>
            <a:srgbClr val="3182CE"/>
          </a:solidFill>
          <a:ln/>
        </p:spPr>
      </p:sp>
      <p:sp>
        <p:nvSpPr>
          <p:cNvPr id="17" name="Shape 14"/>
          <p:cNvSpPr/>
          <p:nvPr/>
        </p:nvSpPr>
        <p:spPr>
          <a:xfrm>
            <a:off x="4076395" y="2340864"/>
            <a:ext cx="3676802" cy="533095"/>
          </a:xfrm>
          <a:prstGeom prst="rect">
            <a:avLst/>
          </a:prstGeom>
          <a:solidFill>
            <a:srgbClr val="F7FAFC"/>
          </a:solidFill>
          <a:ln/>
        </p:spPr>
      </p:sp>
      <p:sp>
        <p:nvSpPr>
          <p:cNvPr id="18" name="Shape 15"/>
          <p:cNvSpPr/>
          <p:nvPr/>
        </p:nvSpPr>
        <p:spPr>
          <a:xfrm>
            <a:off x="4076395" y="2340864"/>
            <a:ext cx="28346" cy="533095"/>
          </a:xfrm>
          <a:prstGeom prst="rect">
            <a:avLst/>
          </a:prstGeom>
          <a:solidFill>
            <a:srgbClr val="3182CE"/>
          </a:solidFill>
          <a:ln/>
        </p:spPr>
      </p:sp>
      <p:sp>
        <p:nvSpPr>
          <p:cNvPr id="19" name="Shape 16"/>
          <p:cNvSpPr/>
          <p:nvPr/>
        </p:nvSpPr>
        <p:spPr>
          <a:xfrm>
            <a:off x="4076395" y="3219602"/>
            <a:ext cx="3676802" cy="381305"/>
          </a:xfrm>
          <a:prstGeom prst="rect">
            <a:avLst/>
          </a:prstGeom>
          <a:solidFill>
            <a:srgbClr val="F7FAFC"/>
          </a:solidFill>
          <a:ln/>
        </p:spPr>
      </p:sp>
      <p:sp>
        <p:nvSpPr>
          <p:cNvPr id="20" name="Shape 17"/>
          <p:cNvSpPr/>
          <p:nvPr/>
        </p:nvSpPr>
        <p:spPr>
          <a:xfrm>
            <a:off x="4076395" y="3219602"/>
            <a:ext cx="28346" cy="381305"/>
          </a:xfrm>
          <a:prstGeom prst="rect">
            <a:avLst/>
          </a:prstGeom>
          <a:solidFill>
            <a:srgbClr val="3182CE"/>
          </a:solidFill>
          <a:ln/>
        </p:spPr>
      </p:sp>
      <p:sp>
        <p:nvSpPr>
          <p:cNvPr id="21" name="Shape 18"/>
          <p:cNvSpPr/>
          <p:nvPr/>
        </p:nvSpPr>
        <p:spPr>
          <a:xfrm>
            <a:off x="4076395" y="3643884"/>
            <a:ext cx="3676802" cy="676656"/>
          </a:xfrm>
          <a:prstGeom prst="rect">
            <a:avLst/>
          </a:prstGeom>
          <a:solidFill>
            <a:srgbClr val="F7FAFC"/>
          </a:solidFill>
          <a:ln/>
        </p:spPr>
      </p:sp>
      <p:sp>
        <p:nvSpPr>
          <p:cNvPr id="22" name="Shape 19"/>
          <p:cNvSpPr/>
          <p:nvPr/>
        </p:nvSpPr>
        <p:spPr>
          <a:xfrm>
            <a:off x="4076395" y="3643884"/>
            <a:ext cx="28346" cy="676656"/>
          </a:xfrm>
          <a:prstGeom prst="rect">
            <a:avLst/>
          </a:prstGeom>
          <a:solidFill>
            <a:srgbClr val="3182CE"/>
          </a:solidFill>
          <a:ln/>
        </p:spPr>
      </p:sp>
      <p:sp>
        <p:nvSpPr>
          <p:cNvPr id="23" name="Shape 20"/>
          <p:cNvSpPr/>
          <p:nvPr/>
        </p:nvSpPr>
        <p:spPr>
          <a:xfrm>
            <a:off x="4076395" y="4670755"/>
            <a:ext cx="3676802" cy="533095"/>
          </a:xfrm>
          <a:prstGeom prst="rect">
            <a:avLst/>
          </a:prstGeom>
          <a:solidFill>
            <a:srgbClr val="F7FAFC"/>
          </a:solidFill>
          <a:ln/>
        </p:spPr>
      </p:sp>
      <p:sp>
        <p:nvSpPr>
          <p:cNvPr id="24" name="Shape 21"/>
          <p:cNvSpPr/>
          <p:nvPr/>
        </p:nvSpPr>
        <p:spPr>
          <a:xfrm>
            <a:off x="4076395" y="4670755"/>
            <a:ext cx="28346" cy="533095"/>
          </a:xfrm>
          <a:prstGeom prst="rect">
            <a:avLst/>
          </a:prstGeom>
          <a:solidFill>
            <a:srgbClr val="3182CE"/>
          </a:solidFill>
          <a:ln/>
        </p:spPr>
      </p:sp>
      <p:sp>
        <p:nvSpPr>
          <p:cNvPr id="25" name="Shape 22"/>
          <p:cNvSpPr/>
          <p:nvPr/>
        </p:nvSpPr>
        <p:spPr>
          <a:xfrm>
            <a:off x="4076395" y="5244084"/>
            <a:ext cx="3676802" cy="533095"/>
          </a:xfrm>
          <a:prstGeom prst="rect">
            <a:avLst/>
          </a:prstGeom>
          <a:solidFill>
            <a:srgbClr val="F7FAFC"/>
          </a:solidFill>
          <a:ln/>
        </p:spPr>
      </p:sp>
      <p:sp>
        <p:nvSpPr>
          <p:cNvPr id="26" name="Shape 23"/>
          <p:cNvSpPr/>
          <p:nvPr/>
        </p:nvSpPr>
        <p:spPr>
          <a:xfrm>
            <a:off x="4076395" y="5244084"/>
            <a:ext cx="28346" cy="533095"/>
          </a:xfrm>
          <a:prstGeom prst="rect">
            <a:avLst/>
          </a:prstGeom>
          <a:solidFill>
            <a:srgbClr val="3182CE"/>
          </a:solidFill>
          <a:ln/>
        </p:spPr>
      </p:sp>
      <p:sp>
        <p:nvSpPr>
          <p:cNvPr id="27" name="Shape 24"/>
          <p:cNvSpPr/>
          <p:nvPr/>
        </p:nvSpPr>
        <p:spPr>
          <a:xfrm>
            <a:off x="7848295" y="1619402"/>
            <a:ext cx="3676802" cy="533095"/>
          </a:xfrm>
          <a:prstGeom prst="rect">
            <a:avLst/>
          </a:prstGeom>
          <a:solidFill>
            <a:srgbClr val="F7FAFC"/>
          </a:solidFill>
          <a:ln/>
        </p:spPr>
      </p:sp>
      <p:sp>
        <p:nvSpPr>
          <p:cNvPr id="28" name="Shape 25"/>
          <p:cNvSpPr/>
          <p:nvPr/>
        </p:nvSpPr>
        <p:spPr>
          <a:xfrm>
            <a:off x="7848295" y="1619402"/>
            <a:ext cx="28346" cy="533095"/>
          </a:xfrm>
          <a:prstGeom prst="rect">
            <a:avLst/>
          </a:prstGeom>
          <a:solidFill>
            <a:srgbClr val="3182CE"/>
          </a:solidFill>
          <a:ln/>
        </p:spPr>
      </p:sp>
      <p:sp>
        <p:nvSpPr>
          <p:cNvPr id="29" name="Shape 26"/>
          <p:cNvSpPr/>
          <p:nvPr/>
        </p:nvSpPr>
        <p:spPr>
          <a:xfrm>
            <a:off x="7848295" y="2192731"/>
            <a:ext cx="3676802" cy="533095"/>
          </a:xfrm>
          <a:prstGeom prst="rect">
            <a:avLst/>
          </a:prstGeom>
          <a:solidFill>
            <a:srgbClr val="F7FAFC"/>
          </a:solidFill>
          <a:ln/>
        </p:spPr>
      </p:sp>
      <p:sp>
        <p:nvSpPr>
          <p:cNvPr id="30" name="Shape 27"/>
          <p:cNvSpPr/>
          <p:nvPr/>
        </p:nvSpPr>
        <p:spPr>
          <a:xfrm>
            <a:off x="7848295" y="2192731"/>
            <a:ext cx="28346" cy="533095"/>
          </a:xfrm>
          <a:prstGeom prst="rect">
            <a:avLst/>
          </a:prstGeom>
          <a:solidFill>
            <a:srgbClr val="3182CE"/>
          </a:solidFill>
          <a:ln/>
        </p:spPr>
      </p:sp>
      <p:sp>
        <p:nvSpPr>
          <p:cNvPr id="31" name="Shape 28"/>
          <p:cNvSpPr/>
          <p:nvPr/>
        </p:nvSpPr>
        <p:spPr>
          <a:xfrm>
            <a:off x="7848295" y="3070555"/>
            <a:ext cx="3676802" cy="676656"/>
          </a:xfrm>
          <a:prstGeom prst="rect">
            <a:avLst/>
          </a:prstGeom>
          <a:solidFill>
            <a:srgbClr val="F7FAFC"/>
          </a:solidFill>
          <a:ln/>
        </p:spPr>
      </p:sp>
      <p:sp>
        <p:nvSpPr>
          <p:cNvPr id="32" name="Shape 29"/>
          <p:cNvSpPr/>
          <p:nvPr/>
        </p:nvSpPr>
        <p:spPr>
          <a:xfrm>
            <a:off x="7848295" y="3070555"/>
            <a:ext cx="28346" cy="676656"/>
          </a:xfrm>
          <a:prstGeom prst="rect">
            <a:avLst/>
          </a:prstGeom>
          <a:solidFill>
            <a:srgbClr val="3182CE"/>
          </a:solidFill>
          <a:ln/>
        </p:spPr>
      </p:sp>
      <p:sp>
        <p:nvSpPr>
          <p:cNvPr id="33" name="Shape 30"/>
          <p:cNvSpPr/>
          <p:nvPr/>
        </p:nvSpPr>
        <p:spPr>
          <a:xfrm>
            <a:off x="7848295" y="3792017"/>
            <a:ext cx="3676802" cy="533095"/>
          </a:xfrm>
          <a:prstGeom prst="rect">
            <a:avLst/>
          </a:prstGeom>
          <a:solidFill>
            <a:srgbClr val="F7FAFC"/>
          </a:solidFill>
          <a:ln/>
        </p:spPr>
      </p:sp>
      <p:sp>
        <p:nvSpPr>
          <p:cNvPr id="34" name="Shape 31"/>
          <p:cNvSpPr/>
          <p:nvPr/>
        </p:nvSpPr>
        <p:spPr>
          <a:xfrm>
            <a:off x="7848295" y="3792017"/>
            <a:ext cx="28346" cy="533095"/>
          </a:xfrm>
          <a:prstGeom prst="rect">
            <a:avLst/>
          </a:prstGeom>
          <a:solidFill>
            <a:srgbClr val="3182CE"/>
          </a:solidFill>
          <a:ln/>
        </p:spPr>
      </p:sp>
      <p:sp>
        <p:nvSpPr>
          <p:cNvPr id="35" name="Text 32"/>
          <p:cNvSpPr txBox="1"/>
          <p:nvPr/>
        </p:nvSpPr>
        <p:spPr>
          <a:xfrm>
            <a:off x="4181551" y="1657807"/>
            <a:ext cx="3514954" cy="467258"/>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「アメリカが、日本が、世界の各国が、どのようになっていくのか不安であり、楽しみでもある。この時代のスーパーヒーローになってもらいたい。」</a:t>
            </a:r>
            <a:endParaRPr lang="en-US" sz="900" dirty="0"/>
          </a:p>
        </p:txBody>
      </p:sp>
      <p:sp>
        <p:nvSpPr>
          <p:cNvPr id="36" name="Text 33"/>
          <p:cNvSpPr txBox="1"/>
          <p:nvPr/>
        </p:nvSpPr>
        <p:spPr>
          <a:xfrm>
            <a:off x="4181551" y="2379269"/>
            <a:ext cx="3514954" cy="314554"/>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「国家間のトラブルについて大統領が変わることで良い方向に進むことに期待したい。不安のほうが大きいが。」</a:t>
            </a:r>
            <a:endParaRPr lang="en-US" sz="900" dirty="0"/>
          </a:p>
        </p:txBody>
      </p:sp>
      <p:sp>
        <p:nvSpPr>
          <p:cNvPr id="37" name="Text 34"/>
          <p:cNvSpPr txBox="1"/>
          <p:nvPr/>
        </p:nvSpPr>
        <p:spPr>
          <a:xfrm>
            <a:off x="4181551" y="3257093"/>
            <a:ext cx="3105302" cy="162763"/>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「自国ファーストなので、同盟国としては気が気でない。」</a:t>
            </a:r>
            <a:endParaRPr lang="en-US" sz="900" dirty="0"/>
          </a:p>
        </p:txBody>
      </p:sp>
      <p:sp>
        <p:nvSpPr>
          <p:cNvPr id="38" name="Text 35"/>
          <p:cNvSpPr txBox="1"/>
          <p:nvPr/>
        </p:nvSpPr>
        <p:spPr>
          <a:xfrm>
            <a:off x="4181551" y="3682289"/>
            <a:ext cx="3514954" cy="467258"/>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「自国中心主義な政策が実施されることで、世界的に良くない影響が広がり、連携・協調が必要とされる局面を進めることが困難になる。」</a:t>
            </a:r>
            <a:endParaRPr lang="en-US" sz="900" dirty="0"/>
          </a:p>
        </p:txBody>
      </p:sp>
      <p:sp>
        <p:nvSpPr>
          <p:cNvPr id="39" name="Text 36"/>
          <p:cNvSpPr txBox="1"/>
          <p:nvPr/>
        </p:nvSpPr>
        <p:spPr>
          <a:xfrm>
            <a:off x="4181551" y="4708246"/>
            <a:ext cx="3514954" cy="314554"/>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「トランプのような自分本位を堂々と発言するような人物を多くの人が支持したことに、民主主義の危機を感じる。」</a:t>
            </a:r>
            <a:endParaRPr lang="en-US" sz="900" dirty="0"/>
          </a:p>
        </p:txBody>
      </p:sp>
      <p:sp>
        <p:nvSpPr>
          <p:cNvPr id="40" name="Text 37"/>
          <p:cNvSpPr txBox="1"/>
          <p:nvPr/>
        </p:nvSpPr>
        <p:spPr>
          <a:xfrm>
            <a:off x="4181551" y="5281574"/>
            <a:ext cx="3514954" cy="314554"/>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「これで戦争は起こらなくなると思った。トランプ大統領は悪くないと思っている。」</a:t>
            </a:r>
            <a:endParaRPr lang="en-US" sz="900" dirty="0"/>
          </a:p>
        </p:txBody>
      </p:sp>
      <p:sp>
        <p:nvSpPr>
          <p:cNvPr id="41" name="Text 38"/>
          <p:cNvSpPr txBox="1"/>
          <p:nvPr/>
        </p:nvSpPr>
        <p:spPr>
          <a:xfrm>
            <a:off x="7953451" y="1657807"/>
            <a:ext cx="3505810" cy="314554"/>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「関税が高くなるのではと懸念している。それによって輸入品の値段が上がってしまうのではと心配。」</a:t>
            </a:r>
            <a:endParaRPr lang="en-US" sz="900" dirty="0"/>
          </a:p>
        </p:txBody>
      </p:sp>
      <p:sp>
        <p:nvSpPr>
          <p:cNvPr id="42" name="Text 39"/>
          <p:cNvSpPr txBox="1"/>
          <p:nvPr/>
        </p:nvSpPr>
        <p:spPr>
          <a:xfrm>
            <a:off x="7953451" y="2230222"/>
            <a:ext cx="3400654" cy="314554"/>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「貿易、外交、防衛など全ての面でアメリカ第一を実現された場合、更なる物価の上昇、増税になるのではないかと不安です」</a:t>
            </a:r>
            <a:endParaRPr lang="en-US" sz="900" dirty="0"/>
          </a:p>
        </p:txBody>
      </p:sp>
      <p:sp>
        <p:nvSpPr>
          <p:cNvPr id="43" name="Text 40"/>
          <p:cNvSpPr txBox="1"/>
          <p:nvPr/>
        </p:nvSpPr>
        <p:spPr>
          <a:xfrm>
            <a:off x="7953451" y="3108960"/>
            <a:ext cx="3514954" cy="467258"/>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「日本経済への影響が大きいと思う。外交への不安もある。関税などが高くなり、円安も進んで、輸出への影響が大きくなるのではないかと思う。」</a:t>
            </a:r>
            <a:endParaRPr lang="en-US" sz="900" dirty="0"/>
          </a:p>
        </p:txBody>
      </p:sp>
      <p:sp>
        <p:nvSpPr>
          <p:cNvPr id="44" name="Text 41"/>
          <p:cNvSpPr txBox="1"/>
          <p:nvPr/>
        </p:nvSpPr>
        <p:spPr>
          <a:xfrm>
            <a:off x="7953451" y="3830422"/>
            <a:ext cx="3514954" cy="314554"/>
          </a:xfrm>
          <a:prstGeom prst="rect">
            <a:avLst/>
          </a:prstGeom>
          <a:noFill/>
          <a:ln/>
        </p:spPr>
        <p:txBody>
          <a:bodyPr wrap="square" lIns="0" tIns="0" rIns="0" bIns="0" rtlCol="0" anchor="ctr"/>
          <a:lstStyle/>
          <a:p>
            <a:pPr algn="l" indent="0" marL="0">
              <a:buNone/>
            </a:pPr>
            <a:r>
              <a:rPr lang="en-US" sz="900" dirty="0">
                <a:solidFill>
                  <a:srgbClr val="4A5568"/>
                </a:solidFill>
                <a:latin typeface="Noto Sans JP" pitchFamily="34" charset="0"/>
                <a:ea typeface="Noto Sans JP" pitchFamily="34" charset="-122"/>
                <a:cs typeface="Noto Sans JP" pitchFamily="34" charset="-120"/>
              </a:rPr>
              <a:t>「日本からの輸出品に関税がかけられるようになると、国内企業に影響が出て日本経済が停滞しそう」</a:t>
            </a:r>
            <a:endParaRPr lang="en-US" sz="900" dirty="0"/>
          </a:p>
        </p:txBody>
      </p:sp>
      <p:sp>
        <p:nvSpPr>
          <p:cNvPr id="45" name="Text 42"/>
          <p:cNvSpPr txBox="1"/>
          <p:nvPr/>
        </p:nvSpPr>
        <p:spPr>
          <a:xfrm>
            <a:off x="6752844" y="2112264"/>
            <a:ext cx="1000354"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ID:671938、50代男性</a:t>
            </a:r>
            <a:endParaRPr lang="en-US" sz="800" dirty="0"/>
          </a:p>
        </p:txBody>
      </p:sp>
      <p:sp>
        <p:nvSpPr>
          <p:cNvPr id="46" name="Text 43"/>
          <p:cNvSpPr txBox="1"/>
          <p:nvPr/>
        </p:nvSpPr>
        <p:spPr>
          <a:xfrm>
            <a:off x="6700723" y="2685593"/>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ID:2380341、50代女性</a:t>
            </a:r>
            <a:endParaRPr lang="en-US" sz="800" dirty="0"/>
          </a:p>
        </p:txBody>
      </p:sp>
      <p:sp>
        <p:nvSpPr>
          <p:cNvPr id="47" name="Text 44"/>
          <p:cNvSpPr txBox="1"/>
          <p:nvPr/>
        </p:nvSpPr>
        <p:spPr>
          <a:xfrm>
            <a:off x="6752844" y="3415284"/>
            <a:ext cx="1000354"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ID:271018、50代男性</a:t>
            </a:r>
            <a:endParaRPr lang="en-US" sz="800" dirty="0"/>
          </a:p>
        </p:txBody>
      </p:sp>
      <p:sp>
        <p:nvSpPr>
          <p:cNvPr id="48" name="Text 45"/>
          <p:cNvSpPr txBox="1"/>
          <p:nvPr/>
        </p:nvSpPr>
        <p:spPr>
          <a:xfrm>
            <a:off x="6700723" y="4136746"/>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ID:3073024、50代女性</a:t>
            </a:r>
            <a:endParaRPr lang="en-US" sz="800" dirty="0"/>
          </a:p>
        </p:txBody>
      </p:sp>
      <p:sp>
        <p:nvSpPr>
          <p:cNvPr id="49" name="Text 46"/>
          <p:cNvSpPr txBox="1"/>
          <p:nvPr/>
        </p:nvSpPr>
        <p:spPr>
          <a:xfrm>
            <a:off x="6752844" y="5015484"/>
            <a:ext cx="1000354"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ID:745760、60代男性</a:t>
            </a:r>
            <a:endParaRPr lang="en-US" sz="800" dirty="0"/>
          </a:p>
        </p:txBody>
      </p:sp>
      <p:sp>
        <p:nvSpPr>
          <p:cNvPr id="50" name="Text 47"/>
          <p:cNvSpPr txBox="1"/>
          <p:nvPr/>
        </p:nvSpPr>
        <p:spPr>
          <a:xfrm>
            <a:off x="6700723" y="5588813"/>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ID:5057382、60代女性</a:t>
            </a:r>
            <a:endParaRPr lang="en-US" sz="800" dirty="0"/>
          </a:p>
        </p:txBody>
      </p:sp>
      <p:sp>
        <p:nvSpPr>
          <p:cNvPr id="51" name="Text 48"/>
          <p:cNvSpPr txBox="1"/>
          <p:nvPr/>
        </p:nvSpPr>
        <p:spPr>
          <a:xfrm>
            <a:off x="10472623" y="1964131"/>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ID:8186024、40代女性</a:t>
            </a:r>
            <a:endParaRPr lang="en-US" sz="800" dirty="0"/>
          </a:p>
        </p:txBody>
      </p:sp>
      <p:sp>
        <p:nvSpPr>
          <p:cNvPr id="52" name="Text 49"/>
          <p:cNvSpPr txBox="1"/>
          <p:nvPr/>
        </p:nvSpPr>
        <p:spPr>
          <a:xfrm>
            <a:off x="10472623" y="2537460"/>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ID:1132732、60代女性</a:t>
            </a:r>
            <a:endParaRPr lang="en-US" sz="800" dirty="0"/>
          </a:p>
        </p:txBody>
      </p:sp>
      <p:sp>
        <p:nvSpPr>
          <p:cNvPr id="53" name="Text 50"/>
          <p:cNvSpPr txBox="1"/>
          <p:nvPr/>
        </p:nvSpPr>
        <p:spPr>
          <a:xfrm>
            <a:off x="10472623" y="3563417"/>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ID:4260931、50代女性</a:t>
            </a:r>
            <a:endParaRPr lang="en-US" sz="800" dirty="0"/>
          </a:p>
        </p:txBody>
      </p:sp>
      <p:sp>
        <p:nvSpPr>
          <p:cNvPr id="54" name="Text 51"/>
          <p:cNvSpPr txBox="1"/>
          <p:nvPr/>
        </p:nvSpPr>
        <p:spPr>
          <a:xfrm>
            <a:off x="10472623" y="4136746"/>
            <a:ext cx="1057961" cy="143561"/>
          </a:xfrm>
          <a:prstGeom prst="rect">
            <a:avLst/>
          </a:prstGeom>
          <a:noFill/>
          <a:ln/>
        </p:spPr>
        <p:txBody>
          <a:bodyPr wrap="square" lIns="0" tIns="0" rIns="0" bIns="0" rtlCol="0" anchor="ctr"/>
          <a:lstStyle/>
          <a:p>
            <a:pPr algn="r" indent="0" marL="0">
              <a:buNone/>
            </a:pPr>
            <a:r>
              <a:rPr lang="en-US" sz="800" i="1" dirty="0">
                <a:solidFill>
                  <a:srgbClr val="718096"/>
                </a:solidFill>
                <a:latin typeface="Noto Sans JP" pitchFamily="34" charset="0"/>
                <a:ea typeface="Noto Sans JP" pitchFamily="34" charset="-122"/>
                <a:cs typeface="Noto Sans JP" pitchFamily="34" charset="-120"/>
              </a:rPr>
              <a:t>ID:3081364、50代男性</a:t>
            </a:r>
            <a:endParaRPr lang="en-US" sz="800" dirty="0"/>
          </a:p>
        </p:txBody>
      </p:sp>
      <p:sp>
        <p:nvSpPr>
          <p:cNvPr id="55" name="Shape 52"/>
          <p:cNvSpPr/>
          <p:nvPr/>
        </p:nvSpPr>
        <p:spPr>
          <a:xfrm>
            <a:off x="10287914" y="237744"/>
            <a:ext cx="1666951" cy="286207"/>
          </a:xfrm>
          <a:prstGeom prst="roundRect">
            <a:avLst>
              <a:gd name="adj" fmla="val 42599"/>
            </a:avLst>
          </a:prstGeom>
          <a:solidFill>
            <a:srgbClr val="3182CE"/>
          </a:solidFill>
          <a:ln/>
        </p:spPr>
      </p:sp>
      <p:sp>
        <p:nvSpPr>
          <p:cNvPr id="56" name="Text 53"/>
          <p:cNvSpPr txBox="1"/>
          <p:nvPr/>
        </p:nvSpPr>
        <p:spPr>
          <a:xfrm>
            <a:off x="10431475" y="286207"/>
            <a:ext cx="1474013" cy="181051"/>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テーマ4: 国際情勢の影響</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9FA"/>
          </a:solidFill>
          <a:ln/>
        </p:spPr>
      </p:sp>
      <p:sp>
        <p:nvSpPr>
          <p:cNvPr id="3" name="Text 1"/>
          <p:cNvSpPr txBox="1"/>
          <p:nvPr/>
        </p:nvSpPr>
        <p:spPr>
          <a:xfrm>
            <a:off x="571500" y="237744"/>
            <a:ext cx="2371954" cy="438912"/>
          </a:xfrm>
          <a:prstGeom prst="rect">
            <a:avLst/>
          </a:prstGeom>
          <a:noFill/>
          <a:ln/>
        </p:spPr>
        <p:txBody>
          <a:bodyPr wrap="square" lIns="0" tIns="0" rIns="0" bIns="0" rtlCol="0" anchor="ctr"/>
          <a:lstStyle/>
          <a:p>
            <a:pPr algn="l" indent="0" marL="0">
              <a:buNone/>
            </a:pPr>
            <a:r>
              <a:rPr lang="en-US" sz="2400" b="1" dirty="0">
                <a:solidFill>
                  <a:srgbClr val="1A365D"/>
                </a:solidFill>
                <a:latin typeface="Noto Sans JP" pitchFamily="34" charset="0"/>
                <a:ea typeface="Noto Sans JP" pitchFamily="34" charset="-122"/>
                <a:cs typeface="Noto Sans JP" pitchFamily="34" charset="-120"/>
              </a:rPr>
              <a:t>洞察と推奨事項</a:t>
            </a:r>
            <a:endParaRPr lang="en-US" sz="2400" dirty="0"/>
          </a:p>
        </p:txBody>
      </p:sp>
      <p:sp>
        <p:nvSpPr>
          <p:cNvPr id="4" name="Shape 2"/>
          <p:cNvSpPr/>
          <p:nvPr/>
        </p:nvSpPr>
        <p:spPr>
          <a:xfrm>
            <a:off x="571500" y="761695"/>
            <a:ext cx="761695" cy="28346"/>
          </a:xfrm>
          <a:prstGeom prst="rect">
            <a:avLst/>
          </a:prstGeom>
          <a:solidFill>
            <a:srgbClr val="3182CE"/>
          </a:solidFill>
          <a:ln/>
        </p:spPr>
      </p:sp>
      <p:sp>
        <p:nvSpPr>
          <p:cNvPr id="5" name="Text 3"/>
          <p:cNvSpPr txBox="1"/>
          <p:nvPr/>
        </p:nvSpPr>
        <p:spPr>
          <a:xfrm>
            <a:off x="571500" y="942746"/>
            <a:ext cx="814730"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統合解釈</a:t>
            </a:r>
            <a:endParaRPr lang="en-US" sz="1300" dirty="0"/>
          </a:p>
        </p:txBody>
      </p:sp>
      <p:sp>
        <p:nvSpPr>
          <p:cNvPr id="6" name="Text 4"/>
          <p:cNvSpPr txBox="1"/>
          <p:nvPr/>
        </p:nvSpPr>
        <p:spPr>
          <a:xfrm>
            <a:off x="571500" y="1314907"/>
            <a:ext cx="5300777" cy="590702"/>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トランプ前大統領の当選に対する国民の反応は、期待と不安が交錯する複雑な状況を反映しています。定量分析では経済政策や社会問題に対する意見が分かれていることが確認され、特に物価高や関税に関する懸念が示されています。</a:t>
            </a:r>
            <a:endParaRPr lang="en-US" sz="1000" dirty="0"/>
          </a:p>
        </p:txBody>
      </p:sp>
      <p:sp>
        <p:nvSpPr>
          <p:cNvPr id="7" name="Text 5"/>
          <p:cNvSpPr txBox="1"/>
          <p:nvPr/>
        </p:nvSpPr>
        <p:spPr>
          <a:xfrm>
            <a:off x="571500" y="2029054"/>
            <a:ext cx="5396789" cy="590702"/>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定性分析では、期待と不安の両面が最も多く見られ（16.9%）、特に外交関係に対する不安（13.4%）が顕著です。これは国際情勢の変化に対する敏感な反応であり、トランプ政権下での安定性への懸念を示唆しています。</a:t>
            </a:r>
            <a:endParaRPr lang="en-US" sz="1000" dirty="0"/>
          </a:p>
        </p:txBody>
      </p:sp>
      <p:sp>
        <p:nvSpPr>
          <p:cNvPr id="8" name="Text 6"/>
          <p:cNvSpPr txBox="1"/>
          <p:nvPr/>
        </p:nvSpPr>
        <p:spPr>
          <a:xfrm>
            <a:off x="571500" y="2743200"/>
            <a:ext cx="5282489" cy="590702"/>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全体として、国民は変化に期待を寄せつつも、トランプ政権がもたらす可能性のあるリスク、特に貿易や外交面での影響に対して警戒心を持っていることが明らかになりました。この複雑な感情は今後の消費行動にも影響を与える可能性があります。</a:t>
            </a:r>
            <a:endParaRPr lang="en-US" sz="1000" dirty="0"/>
          </a:p>
        </p:txBody>
      </p:sp>
      <p:sp>
        <p:nvSpPr>
          <p:cNvPr id="9" name="Text 7"/>
          <p:cNvSpPr txBox="1"/>
          <p:nvPr/>
        </p:nvSpPr>
        <p:spPr>
          <a:xfrm>
            <a:off x="6324905" y="942746"/>
            <a:ext cx="1500530"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示唆とアクション</a:t>
            </a:r>
            <a:endParaRPr lang="en-US" sz="1300" dirty="0"/>
          </a:p>
        </p:txBody>
      </p:sp>
      <p:sp>
        <p:nvSpPr>
          <p:cNvPr id="10" name="Text 8"/>
          <p:cNvSpPr txBox="1"/>
          <p:nvPr/>
        </p:nvSpPr>
        <p:spPr>
          <a:xfrm>
            <a:off x="6324905" y="1314907"/>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1" name="Text 9"/>
          <p:cNvSpPr txBox="1"/>
          <p:nvPr/>
        </p:nvSpPr>
        <p:spPr>
          <a:xfrm>
            <a:off x="6324905" y="1904695"/>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2" name="Text 10"/>
          <p:cNvSpPr txBox="1"/>
          <p:nvPr/>
        </p:nvSpPr>
        <p:spPr>
          <a:xfrm>
            <a:off x="6324905" y="2495398"/>
            <a:ext cx="181051" cy="228600"/>
          </a:xfrm>
          <a:prstGeom prst="rect">
            <a:avLst/>
          </a:prstGeom>
          <a:noFill/>
          <a:ln/>
        </p:spPr>
        <p:txBody>
          <a:bodyPr wrap="square" lIns="0" tIns="0" rIns="0" bIns="0" rtlCol="0" anchor="ctr"/>
          <a:lstStyle/>
          <a:p>
            <a:pPr algn="l" indent="0" marL="0">
              <a:buNone/>
            </a:pPr>
            <a:r>
              <a:rPr lang="en-US" sz="1200" b="1" dirty="0">
                <a:solidFill>
                  <a:srgbClr val="3182CE"/>
                </a:solidFill>
                <a:latin typeface="Noto Sans JP" pitchFamily="34" charset="0"/>
                <a:ea typeface="Noto Sans JP" pitchFamily="34" charset="-122"/>
                <a:cs typeface="Noto Sans JP" pitchFamily="34" charset="-120"/>
              </a:rPr>
              <a:t>•</a:t>
            </a:r>
            <a:endParaRPr lang="en-US" sz="1200" dirty="0"/>
          </a:p>
        </p:txBody>
      </p:sp>
      <p:sp>
        <p:nvSpPr>
          <p:cNvPr id="13" name="Text 11"/>
          <p:cNvSpPr txBox="1"/>
          <p:nvPr/>
        </p:nvSpPr>
        <p:spPr>
          <a:xfrm>
            <a:off x="6458407" y="1314907"/>
            <a:ext cx="5168189"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マクロ経済対応：国際情勢の不確実性に備え、価格転嫁と需要喚起のバランスを柔軟に運用。為替変動リスクに対するヘッジ戦略の見直しを検討。</a:t>
            </a:r>
            <a:endParaRPr lang="en-US" sz="1000" dirty="0"/>
          </a:p>
        </p:txBody>
      </p:sp>
      <p:sp>
        <p:nvSpPr>
          <p:cNvPr id="14" name="Text 12"/>
          <p:cNvSpPr txBox="1"/>
          <p:nvPr/>
        </p:nvSpPr>
        <p:spPr>
          <a:xfrm>
            <a:off x="6458407" y="1904695"/>
            <a:ext cx="5168189"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輸入依存領域：関税政策の変更に備え、主要原材料や商品の前倒し調達や代替調達先の確保を検討。米国からの輸入依存度の再評価。</a:t>
            </a:r>
            <a:endParaRPr lang="en-US" sz="1000" dirty="0"/>
          </a:p>
        </p:txBody>
      </p:sp>
      <p:sp>
        <p:nvSpPr>
          <p:cNvPr id="15" name="Text 13"/>
          <p:cNvSpPr txBox="1"/>
          <p:nvPr/>
        </p:nvSpPr>
        <p:spPr>
          <a:xfrm>
            <a:off x="6458407" y="2495398"/>
            <a:ext cx="5158130" cy="391363"/>
          </a:xfrm>
          <a:prstGeom prst="rect">
            <a:avLst/>
          </a:prstGeom>
          <a:noFill/>
          <a:ln/>
        </p:spPr>
        <p:txBody>
          <a:bodyPr wrap="square" lIns="0" tIns="0" rIns="0" bIns="0" rtlCol="0" anchor="ctr"/>
          <a:lstStyle/>
          <a:p>
            <a:pPr algn="l" indent="0" marL="0">
              <a:buNone/>
            </a:pPr>
            <a:r>
              <a:rPr lang="en-US" sz="1000" dirty="0">
                <a:solidFill>
                  <a:srgbClr val="4A5568"/>
                </a:solidFill>
                <a:latin typeface="Noto Sans JP" pitchFamily="34" charset="0"/>
                <a:ea typeface="Noto Sans JP" pitchFamily="34" charset="-122"/>
                <a:cs typeface="Noto Sans JP" pitchFamily="34" charset="-120"/>
              </a:rPr>
              <a:t>消費者コミュニケーション：国際情勢による価格変動について、透明性ある情報提供を行い、消費者の理解と信頼を獲得する。</a:t>
            </a:r>
            <a:endParaRPr lang="en-US" sz="1000" dirty="0"/>
          </a:p>
        </p:txBody>
      </p:sp>
      <p:sp>
        <p:nvSpPr>
          <p:cNvPr id="16" name="Text 14"/>
          <p:cNvSpPr txBox="1"/>
          <p:nvPr/>
        </p:nvSpPr>
        <p:spPr>
          <a:xfrm>
            <a:off x="6324905" y="3161995"/>
            <a:ext cx="1815084" cy="247802"/>
          </a:xfrm>
          <a:prstGeom prst="rect">
            <a:avLst/>
          </a:prstGeom>
          <a:noFill/>
          <a:ln/>
        </p:spPr>
        <p:txBody>
          <a:bodyPr wrap="square" lIns="0" tIns="0" rIns="0" bIns="0" rtlCol="0" anchor="ctr"/>
          <a:lstStyle/>
          <a:p>
            <a:pPr algn="l" indent="0" marL="0">
              <a:buNone/>
            </a:pPr>
            <a:r>
              <a:rPr lang="en-US" sz="1300" b="1" dirty="0">
                <a:solidFill>
                  <a:srgbClr val="2D3748"/>
                </a:solidFill>
                <a:latin typeface="Noto Sans JP" pitchFamily="34" charset="0"/>
                <a:ea typeface="Noto Sans JP" pitchFamily="34" charset="-122"/>
                <a:cs typeface="Noto Sans JP" pitchFamily="34" charset="-120"/>
              </a:rPr>
              <a:t>テーマ分布 上位3項目</a:t>
            </a:r>
            <a:endParaRPr lang="en-US" sz="1300" dirty="0"/>
          </a:p>
        </p:txBody>
      </p:sp>
      <p:sp>
        <p:nvSpPr>
          <p:cNvPr id="17" name="Shape 15"/>
          <p:cNvSpPr/>
          <p:nvPr/>
        </p:nvSpPr>
        <p:spPr>
          <a:xfrm>
            <a:off x="6324905" y="3534156"/>
            <a:ext cx="5296205" cy="790956"/>
          </a:xfrm>
          <a:prstGeom prst="roundRect">
            <a:avLst>
              <a:gd name="adj" fmla="val 5571"/>
            </a:avLst>
          </a:prstGeom>
          <a:solidFill>
            <a:srgbClr val="EBF8FF"/>
          </a:solidFill>
          <a:ln/>
        </p:spPr>
      </p:sp>
      <p:sp>
        <p:nvSpPr>
          <p:cNvPr id="18" name="Shape 16"/>
          <p:cNvSpPr/>
          <p:nvPr/>
        </p:nvSpPr>
        <p:spPr>
          <a:xfrm>
            <a:off x="6324905" y="3534156"/>
            <a:ext cx="38405" cy="790956"/>
          </a:xfrm>
          <a:prstGeom prst="rect">
            <a:avLst/>
          </a:prstGeom>
          <a:solidFill>
            <a:srgbClr val="3182CE"/>
          </a:solidFill>
          <a:ln/>
        </p:spPr>
      </p:sp>
      <p:sp>
        <p:nvSpPr>
          <p:cNvPr id="19" name="Shape 17"/>
          <p:cNvSpPr/>
          <p:nvPr/>
        </p:nvSpPr>
        <p:spPr>
          <a:xfrm>
            <a:off x="6324905" y="4414723"/>
            <a:ext cx="5296205" cy="790956"/>
          </a:xfrm>
          <a:prstGeom prst="roundRect">
            <a:avLst>
              <a:gd name="adj" fmla="val 5571"/>
            </a:avLst>
          </a:prstGeom>
          <a:solidFill>
            <a:srgbClr val="EBF8FF"/>
          </a:solidFill>
          <a:ln/>
        </p:spPr>
      </p:sp>
      <p:sp>
        <p:nvSpPr>
          <p:cNvPr id="20" name="Shape 18"/>
          <p:cNvSpPr/>
          <p:nvPr/>
        </p:nvSpPr>
        <p:spPr>
          <a:xfrm>
            <a:off x="6324905" y="4414723"/>
            <a:ext cx="38405" cy="790956"/>
          </a:xfrm>
          <a:prstGeom prst="rect">
            <a:avLst/>
          </a:prstGeom>
          <a:solidFill>
            <a:srgbClr val="3182CE"/>
          </a:solidFill>
          <a:ln/>
        </p:spPr>
      </p:sp>
      <p:sp>
        <p:nvSpPr>
          <p:cNvPr id="21" name="Shape 19"/>
          <p:cNvSpPr/>
          <p:nvPr/>
        </p:nvSpPr>
        <p:spPr>
          <a:xfrm>
            <a:off x="6324905" y="5296205"/>
            <a:ext cx="5296205" cy="790956"/>
          </a:xfrm>
          <a:prstGeom prst="roundRect">
            <a:avLst>
              <a:gd name="adj" fmla="val 5571"/>
            </a:avLst>
          </a:prstGeom>
          <a:solidFill>
            <a:srgbClr val="EBF8FF"/>
          </a:solidFill>
          <a:ln/>
        </p:spPr>
      </p:sp>
      <p:sp>
        <p:nvSpPr>
          <p:cNvPr id="22" name="Shape 20"/>
          <p:cNvSpPr/>
          <p:nvPr/>
        </p:nvSpPr>
        <p:spPr>
          <a:xfrm>
            <a:off x="6324905" y="5296205"/>
            <a:ext cx="38405" cy="790956"/>
          </a:xfrm>
          <a:prstGeom prst="rect">
            <a:avLst/>
          </a:prstGeom>
          <a:solidFill>
            <a:srgbClr val="3182CE"/>
          </a:solidFill>
          <a:ln/>
        </p:spPr>
      </p:sp>
      <p:sp>
        <p:nvSpPr>
          <p:cNvPr id="23" name="Text 21"/>
          <p:cNvSpPr txBox="1"/>
          <p:nvPr/>
        </p:nvSpPr>
        <p:spPr>
          <a:xfrm>
            <a:off x="6476695" y="3648456"/>
            <a:ext cx="1093622" cy="181051"/>
          </a:xfrm>
          <a:prstGeom prst="rect">
            <a:avLst/>
          </a:prstGeom>
          <a:noFill/>
          <a:ln/>
        </p:spPr>
        <p:txBody>
          <a:bodyPr wrap="square" lIns="0" tIns="0" rIns="0" bIns="0" rtlCol="0" anchor="ctr"/>
          <a:lstStyle/>
          <a:p>
            <a:pPr algn="l" indent="0" marL="0">
              <a:buNone/>
            </a:pPr>
            <a:r>
              <a:rPr lang="en-US" sz="900" dirty="0">
                <a:solidFill>
                  <a:srgbClr val="2C5282"/>
                </a:solidFill>
                <a:latin typeface="Noto Sans JP" pitchFamily="34" charset="0"/>
                <a:ea typeface="Noto Sans JP" pitchFamily="34" charset="-122"/>
                <a:cs typeface="Noto Sans JP" pitchFamily="34" charset="-120"/>
              </a:rPr>
              <a:t>期待と不安の両面</a:t>
            </a:r>
            <a:endParaRPr lang="en-US" sz="900" dirty="0"/>
          </a:p>
        </p:txBody>
      </p:sp>
      <p:sp>
        <p:nvSpPr>
          <p:cNvPr id="24" name="Text 22"/>
          <p:cNvSpPr txBox="1"/>
          <p:nvPr/>
        </p:nvSpPr>
        <p:spPr>
          <a:xfrm>
            <a:off x="6476695" y="4529023"/>
            <a:ext cx="969264" cy="181051"/>
          </a:xfrm>
          <a:prstGeom prst="rect">
            <a:avLst/>
          </a:prstGeom>
          <a:noFill/>
          <a:ln/>
        </p:spPr>
        <p:txBody>
          <a:bodyPr wrap="square" lIns="0" tIns="0" rIns="0" bIns="0" rtlCol="0" anchor="ctr"/>
          <a:lstStyle/>
          <a:p>
            <a:pPr algn="l" indent="0" marL="0">
              <a:buNone/>
            </a:pPr>
            <a:r>
              <a:rPr lang="en-US" sz="900" dirty="0">
                <a:solidFill>
                  <a:srgbClr val="2C5282"/>
                </a:solidFill>
                <a:latin typeface="Noto Sans JP" pitchFamily="34" charset="0"/>
                <a:ea typeface="Noto Sans JP" pitchFamily="34" charset="-122"/>
                <a:cs typeface="Noto Sans JP" pitchFamily="34" charset="-120"/>
              </a:rPr>
              <a:t>外交関係の不安</a:t>
            </a:r>
            <a:endParaRPr lang="en-US" sz="900" dirty="0"/>
          </a:p>
        </p:txBody>
      </p:sp>
      <p:sp>
        <p:nvSpPr>
          <p:cNvPr id="25" name="Text 23"/>
          <p:cNvSpPr txBox="1"/>
          <p:nvPr/>
        </p:nvSpPr>
        <p:spPr>
          <a:xfrm>
            <a:off x="6476695" y="5410505"/>
            <a:ext cx="960120" cy="181051"/>
          </a:xfrm>
          <a:prstGeom prst="rect">
            <a:avLst/>
          </a:prstGeom>
          <a:noFill/>
          <a:ln/>
        </p:spPr>
        <p:txBody>
          <a:bodyPr wrap="square" lIns="0" tIns="0" rIns="0" bIns="0" rtlCol="0" anchor="ctr"/>
          <a:lstStyle/>
          <a:p>
            <a:pPr algn="l" indent="0" marL="0">
              <a:buNone/>
            </a:pPr>
            <a:r>
              <a:rPr lang="en-US" sz="900" dirty="0">
                <a:solidFill>
                  <a:srgbClr val="2C5282"/>
                </a:solidFill>
                <a:latin typeface="Noto Sans JP" pitchFamily="34" charset="0"/>
                <a:ea typeface="Noto Sans JP" pitchFamily="34" charset="-122"/>
                <a:cs typeface="Noto Sans JP" pitchFamily="34" charset="-120"/>
              </a:rPr>
              <a:t>トランプの評価</a:t>
            </a:r>
            <a:endParaRPr lang="en-US" sz="900" dirty="0"/>
          </a:p>
        </p:txBody>
      </p:sp>
      <p:sp>
        <p:nvSpPr>
          <p:cNvPr id="26" name="Text 24"/>
          <p:cNvSpPr txBox="1"/>
          <p:nvPr/>
        </p:nvSpPr>
        <p:spPr>
          <a:xfrm>
            <a:off x="6476695" y="3890772"/>
            <a:ext cx="805586" cy="305410"/>
          </a:xfrm>
          <a:prstGeom prst="rect">
            <a:avLst/>
          </a:prstGeom>
          <a:noFill/>
          <a:ln/>
        </p:spPr>
        <p:txBody>
          <a:bodyPr wrap="square" lIns="0" tIns="0" rIns="0" bIns="0" rtlCol="0" anchor="ctr"/>
          <a:lstStyle/>
          <a:p>
            <a:pPr algn="l" indent="0" marL="0">
              <a:buNone/>
            </a:pPr>
            <a:r>
              <a:rPr lang="en-US" sz="1600" b="1" dirty="0">
                <a:solidFill>
                  <a:srgbClr val="2B6CB0"/>
                </a:solidFill>
                <a:latin typeface="Noto Sans JP" pitchFamily="34" charset="0"/>
                <a:ea typeface="Noto Sans JP" pitchFamily="34" charset="-122"/>
                <a:cs typeface="Noto Sans JP" pitchFamily="34" charset="-120"/>
              </a:rPr>
              <a:t>16.9%</a:t>
            </a:r>
            <a:endParaRPr lang="en-US" sz="1600" dirty="0"/>
          </a:p>
        </p:txBody>
      </p:sp>
      <p:sp>
        <p:nvSpPr>
          <p:cNvPr id="27" name="Text 25"/>
          <p:cNvSpPr txBox="1"/>
          <p:nvPr/>
        </p:nvSpPr>
        <p:spPr>
          <a:xfrm>
            <a:off x="6476695" y="4772254"/>
            <a:ext cx="805586" cy="305410"/>
          </a:xfrm>
          <a:prstGeom prst="rect">
            <a:avLst/>
          </a:prstGeom>
          <a:noFill/>
          <a:ln/>
        </p:spPr>
        <p:txBody>
          <a:bodyPr wrap="square" lIns="0" tIns="0" rIns="0" bIns="0" rtlCol="0" anchor="ctr"/>
          <a:lstStyle/>
          <a:p>
            <a:pPr algn="l" indent="0" marL="0">
              <a:buNone/>
            </a:pPr>
            <a:r>
              <a:rPr lang="en-US" sz="1600" b="1" dirty="0">
                <a:solidFill>
                  <a:srgbClr val="2B6CB0"/>
                </a:solidFill>
                <a:latin typeface="Noto Sans JP" pitchFamily="34" charset="0"/>
                <a:ea typeface="Noto Sans JP" pitchFamily="34" charset="-122"/>
                <a:cs typeface="Noto Sans JP" pitchFamily="34" charset="-120"/>
              </a:rPr>
              <a:t>13.4%</a:t>
            </a:r>
            <a:endParaRPr lang="en-US" sz="1600" dirty="0"/>
          </a:p>
        </p:txBody>
      </p:sp>
      <p:sp>
        <p:nvSpPr>
          <p:cNvPr id="28" name="Text 26"/>
          <p:cNvSpPr txBox="1"/>
          <p:nvPr/>
        </p:nvSpPr>
        <p:spPr>
          <a:xfrm>
            <a:off x="6476695" y="5652821"/>
            <a:ext cx="805586" cy="305410"/>
          </a:xfrm>
          <a:prstGeom prst="rect">
            <a:avLst/>
          </a:prstGeom>
          <a:noFill/>
          <a:ln/>
        </p:spPr>
        <p:txBody>
          <a:bodyPr wrap="square" lIns="0" tIns="0" rIns="0" bIns="0" rtlCol="0" anchor="ctr"/>
          <a:lstStyle/>
          <a:p>
            <a:pPr algn="l" indent="0" marL="0">
              <a:buNone/>
            </a:pPr>
            <a:r>
              <a:rPr lang="en-US" sz="1600" b="1" dirty="0">
                <a:solidFill>
                  <a:srgbClr val="2B6CB0"/>
                </a:solidFill>
                <a:latin typeface="Noto Sans JP" pitchFamily="34" charset="0"/>
                <a:ea typeface="Noto Sans JP" pitchFamily="34" charset="-122"/>
                <a:cs typeface="Noto Sans JP" pitchFamily="34" charset="-120"/>
              </a:rPr>
              <a:t>11.8%</a:t>
            </a:r>
            <a:endParaRPr lang="en-US" sz="1600" dirty="0"/>
          </a:p>
        </p:txBody>
      </p:sp>
      <p:sp>
        <p:nvSpPr>
          <p:cNvPr id="29" name="Shape 27"/>
          <p:cNvSpPr/>
          <p:nvPr/>
        </p:nvSpPr>
        <p:spPr>
          <a:xfrm>
            <a:off x="10451592" y="237744"/>
            <a:ext cx="1505102" cy="286207"/>
          </a:xfrm>
          <a:prstGeom prst="roundRect">
            <a:avLst>
              <a:gd name="adj" fmla="val 42599"/>
            </a:avLst>
          </a:prstGeom>
          <a:solidFill>
            <a:srgbClr val="3182CE"/>
          </a:solidFill>
          <a:ln/>
        </p:spPr>
      </p:sp>
      <p:sp>
        <p:nvSpPr>
          <p:cNvPr id="30" name="Text 28"/>
          <p:cNvSpPr txBox="1"/>
          <p:nvPr/>
        </p:nvSpPr>
        <p:spPr>
          <a:xfrm>
            <a:off x="10565892" y="295351"/>
            <a:ext cx="1362456"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テーマ4: 国際情勢の影響</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2025-10-27T08:33:53Z</dcterms:created>
  <dcterms:modified xsi:type="dcterms:W3CDTF">2025-10-27T08:33:53Z</dcterms:modified>
</cp:coreProperties>
</file>